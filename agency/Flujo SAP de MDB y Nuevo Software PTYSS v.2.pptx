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5" r:id="rId2"/>
    <p:sldId id="258" r:id="rId3"/>
    <p:sldId id="286" r:id="rId4"/>
    <p:sldId id="287" r:id="rId5"/>
    <p:sldId id="264" r:id="rId6"/>
    <p:sldId id="270" r:id="rId7"/>
    <p:sldId id="266" r:id="rId8"/>
    <p:sldId id="267" r:id="rId9"/>
    <p:sldId id="268" r:id="rId10"/>
    <p:sldId id="276" r:id="rId11"/>
    <p:sldId id="284" r:id="rId12"/>
    <p:sldId id="280" r:id="rId13"/>
    <p:sldId id="285" r:id="rId14"/>
    <p:sldId id="263" r:id="rId15"/>
    <p:sldId id="269" r:id="rId16"/>
    <p:sldId id="271" r:id="rId17"/>
    <p:sldId id="272" r:id="rId18"/>
    <p:sldId id="262" r:id="rId19"/>
    <p:sldId id="273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89" autoAdjust="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2348C-0B0D-41B6-B0C0-3CF879ABEC7E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C1134-C2E0-435F-A628-CF3BB260C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85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C1134-C2E0-435F-A628-CF3BB260CB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81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244A-D687-E177-C384-0DA3A4D11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4066A-BF2E-A223-D1EF-DB0EF0EC9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DF3BE-A0BB-2570-02FE-BC3DF1970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02E1-402A-4BFC-B06E-C367EA0644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C0D58-EBA7-1630-55A2-B198E6F4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38737-FDAC-40D4-7DF2-B75A90C8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CBBC-5F4B-452B-8562-C24E2AE03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09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AB8E9-B95B-5D4E-0900-2FEE41CD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B6B2B-382E-D919-A1A6-9343D1238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A6D04-6552-A2D4-9812-B1E408229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02E1-402A-4BFC-B06E-C367EA0644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17C6-1352-F212-9EF4-F25C35EA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75A1D-D614-E06C-8504-63E9E4B1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CBBC-5F4B-452B-8562-C24E2AE03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24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1110-F60E-D37C-AFA5-297F648A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7BAF3-81D0-63A1-D563-48DE45B27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F4CC7-51F4-22CD-2071-4FE3BECDC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02E1-402A-4BFC-B06E-C367EA0644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D11A8-EE4F-11FB-F55D-D4920C72C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BA631-EE8E-14EB-F732-EA3AC5B80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CBBC-5F4B-452B-8562-C24E2AE03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67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6F67-F532-4DE3-DD10-856F6F7D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2323F-7097-D7B9-AC83-73140A147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A654-8EAF-55FE-C470-3B6505DBA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4B6F2-F5E1-9DDB-C4DB-67B740E42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02E1-402A-4BFC-B06E-C367EA0644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DF1C9-465D-65D9-4559-95EA854D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0E21D-01B4-1C1F-A3EF-F7228806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CBBC-5F4B-452B-8562-C24E2AE03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90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6AB7-C0F9-C3C7-7B34-F9F0DC90A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B1B1F-27A6-A72C-B515-F8BB1046E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FCE8B-F6C9-D952-90E0-C778FF1D7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5890A-27B9-6E23-D04D-FDD1F0E4FA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C38AAB-3079-DC99-E511-E56C680B6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31F3D-2DCE-4FB9-59BE-71EA622F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02E1-402A-4BFC-B06E-C367EA0644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2CE6E8-2FD0-08FB-F8BA-3C0508025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96E785-A3B5-6C89-CFE8-FD1F88141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CBBC-5F4B-452B-8562-C24E2AE03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6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CFC3B-CD61-1C27-FCD1-71F29BD80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3FB74-15E4-09FF-33D5-746AEFB7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02E1-402A-4BFC-B06E-C367EA0644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55AC03-31BA-E379-667F-18BCA5705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4FDBD7-3CD9-E3EB-A4B4-895CA3BE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CBBC-5F4B-452B-8562-C24E2AE03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48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201E2-4ABB-E897-E844-1CF80D4ED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02E1-402A-4BFC-B06E-C367EA0644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F3E115-503D-45DC-20D9-D99252D1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881D1-7621-27F5-62FE-99762C3F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CBBC-5F4B-452B-8562-C24E2AE03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77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62AD-0ACC-395F-F60C-EE8DAB989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9C5F7-1B45-6BEB-6ABF-B63AEAE0A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EF713-113B-F383-E189-EDAAE9443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37986-4D55-85E5-AD58-7DB799BB5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02E1-402A-4BFC-B06E-C367EA0644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F6FBE-0F92-477C-13CB-388F615F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A34E0-2253-0675-4FE5-4F97D76F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CBBC-5F4B-452B-8562-C24E2AE03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29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32E4-EB63-D4A8-68A9-DE5BC84D5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453EC3-F906-3FDE-6122-02A3605E1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2DB20-4796-5A6E-C721-D0F03ADBA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B9639-4589-6F28-6B24-1CAEE569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02E1-402A-4BFC-B06E-C367EA0644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FFFD3-9602-3C3F-17D5-B2E1E2F40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6D247-C7EE-BAA6-C0D4-090EA7B8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CBBC-5F4B-452B-8562-C24E2AE03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6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4152-7E98-A708-F3B9-78CDF993C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2FEC0-FA4B-A0FE-32A3-F6DC726BB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4C2F4-7E8A-3BB6-342D-813402EDA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02E1-402A-4BFC-B06E-C367EA0644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F6B35-841F-D6AE-3EEB-518BE539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C5B08-61EB-0F1E-3E5F-4C965103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CBBC-5F4B-452B-8562-C24E2AE03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38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FB70B2-25C7-C169-957C-E4BD871A7F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B6815-0D2D-0F77-9446-1DF00AC04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60747-0BBE-F696-AB34-CDBA3D947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02E1-402A-4BFC-B06E-C367EA0644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ABA36-05C0-B540-F471-2BB785F0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EC89F-1480-588C-9C20-056BF6728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CBBC-5F4B-452B-8562-C24E2AE03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4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FEB8C9-231F-BA4C-BE81-3C485DD16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50D8E-E306-F59B-2D13-7C684427D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971C7-6B01-552F-680F-57106973A8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E02E1-402A-4BFC-B06E-C367EA06445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C62CC-050E-9860-7572-7B6FA291B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0567E-49B0-8F89-D7A1-7F769C0A4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02CBBC-5F4B-452B-8562-C24E2AE03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90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798B80-080B-DBEF-8582-BD4EB67B2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925" y="1321056"/>
            <a:ext cx="10684151" cy="1991979"/>
          </a:xfrm>
        </p:spPr>
        <p:txBody>
          <a:bodyPr anchor="b"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SAP Project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2108C5-7431-37AE-630C-D6903EA1C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95" y="3525490"/>
            <a:ext cx="9469211" cy="865639"/>
          </a:xfrm>
        </p:spPr>
        <p:txBody>
          <a:bodyPr anchor="t">
            <a:normAutofit/>
          </a:bodyPr>
          <a:lstStyle/>
          <a:p>
            <a:r>
              <a:rPr lang="en-US" dirty="0" err="1">
                <a:solidFill>
                  <a:schemeClr val="tx2"/>
                </a:solidFill>
              </a:rPr>
              <a:t>Modelos</a:t>
            </a:r>
            <a:r>
              <a:rPr lang="en-US" dirty="0">
                <a:solidFill>
                  <a:schemeClr val="tx2"/>
                </a:solidFill>
              </a:rPr>
              <a:t> de </a:t>
            </a:r>
            <a:r>
              <a:rPr lang="en-US" dirty="0" err="1">
                <a:solidFill>
                  <a:schemeClr val="tx2"/>
                </a:solidFill>
              </a:rPr>
              <a:t>Esquemas</a:t>
            </a:r>
            <a:r>
              <a:rPr lang="en-US" dirty="0">
                <a:solidFill>
                  <a:schemeClr val="tx2"/>
                </a:solidFill>
              </a:rPr>
              <a:t> para Desarrollo de </a:t>
            </a:r>
            <a:r>
              <a:rPr lang="en-US" dirty="0" err="1">
                <a:solidFill>
                  <a:schemeClr val="tx2"/>
                </a:solidFill>
              </a:rPr>
              <a:t>Aplicativos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Operativos</a:t>
            </a:r>
            <a:r>
              <a:rPr lang="en-US" dirty="0">
                <a:solidFill>
                  <a:schemeClr val="tx2"/>
                </a:solidFill>
              </a:rPr>
              <a:t> y de </a:t>
            </a:r>
            <a:r>
              <a:rPr lang="en-US" dirty="0" err="1">
                <a:solidFill>
                  <a:schemeClr val="tx2"/>
                </a:solidFill>
              </a:rPr>
              <a:t>Facturacion</a:t>
            </a:r>
            <a:r>
              <a:rPr lang="en-US" dirty="0">
                <a:solidFill>
                  <a:schemeClr val="tx2"/>
                </a:solidFill>
              </a:rPr>
              <a:t> para Proyecto SAP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8272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BB9E7-5E23-0A0B-7C83-BC55ACB6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D0F94A-3BE6-C4A0-E5C2-08510DE426A5}"/>
              </a:ext>
            </a:extLst>
          </p:cNvPr>
          <p:cNvSpPr txBox="1"/>
          <p:nvPr/>
        </p:nvSpPr>
        <p:spPr>
          <a:xfrm>
            <a:off x="320611" y="2391750"/>
            <a:ext cx="1794128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Enviar</a:t>
            </a:r>
            <a:r>
              <a:rPr lang="en-US" dirty="0"/>
              <a:t> data de Viajes </a:t>
            </a:r>
            <a:r>
              <a:rPr lang="en-US" dirty="0" err="1"/>
              <a:t>Completados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268FE-52CC-CE53-9440-EEEFAB408CFE}"/>
              </a:ext>
            </a:extLst>
          </p:cNvPr>
          <p:cNvSpPr txBox="1"/>
          <p:nvPr/>
        </p:nvSpPr>
        <p:spPr>
          <a:xfrm>
            <a:off x="3225742" y="5559413"/>
            <a:ext cx="1985716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Seleccionar</a:t>
            </a:r>
            <a:r>
              <a:rPr lang="en-US" sz="1400" dirty="0"/>
              <a:t> </a:t>
            </a:r>
            <a:r>
              <a:rPr lang="en-US" sz="1400" dirty="0" err="1"/>
              <a:t>parametros</a:t>
            </a:r>
            <a:r>
              <a:rPr lang="en-US" sz="1400" dirty="0"/>
              <a:t>:  Por </a:t>
            </a:r>
            <a:r>
              <a:rPr lang="en-US" sz="1400" dirty="0" err="1"/>
              <a:t>cliente</a:t>
            </a:r>
            <a:r>
              <a:rPr lang="en-US" sz="1400" dirty="0"/>
              <a:t>, </a:t>
            </a:r>
            <a:r>
              <a:rPr lang="en-US" sz="1400" dirty="0" err="1"/>
              <a:t>barco</a:t>
            </a:r>
            <a:r>
              <a:rPr lang="en-US" sz="1400" dirty="0"/>
              <a:t>/</a:t>
            </a:r>
            <a:r>
              <a:rPr lang="en-US" sz="1400" dirty="0" err="1"/>
              <a:t>viaje</a:t>
            </a:r>
            <a:r>
              <a:rPr lang="en-US" sz="1400" dirty="0"/>
              <a:t> y/o </a:t>
            </a:r>
            <a:r>
              <a:rPr lang="en-US" sz="1400" dirty="0" err="1"/>
              <a:t>rango</a:t>
            </a:r>
            <a:r>
              <a:rPr lang="en-US" sz="1400" dirty="0"/>
              <a:t> de </a:t>
            </a:r>
            <a:r>
              <a:rPr lang="en-US" sz="1400" dirty="0" err="1"/>
              <a:t>fechas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21961-284B-92CC-1EFC-784E11A0F66B}"/>
              </a:ext>
            </a:extLst>
          </p:cNvPr>
          <p:cNvSpPr txBox="1"/>
          <p:nvPr/>
        </p:nvSpPr>
        <p:spPr>
          <a:xfrm>
            <a:off x="7001827" y="2512271"/>
            <a:ext cx="1901952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reporte</a:t>
            </a:r>
            <a:r>
              <a:rPr lang="en-US" dirty="0"/>
              <a:t> de Excel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340539-88C5-0226-7E57-13D3177583BA}"/>
              </a:ext>
            </a:extLst>
          </p:cNvPr>
          <p:cNvSpPr txBox="1"/>
          <p:nvPr/>
        </p:nvSpPr>
        <p:spPr>
          <a:xfrm>
            <a:off x="7008178" y="3604366"/>
            <a:ext cx="1901952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Generar</a:t>
            </a:r>
            <a:r>
              <a:rPr lang="en-US" dirty="0"/>
              <a:t> factura proforma (</a:t>
            </a:r>
            <a:r>
              <a:rPr lang="en-US" dirty="0" err="1"/>
              <a:t>fisica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pdf)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F09FA-A55E-FAF6-6CE3-D6131FB94EC4}"/>
              </a:ext>
            </a:extLst>
          </p:cNvPr>
          <p:cNvSpPr txBox="1"/>
          <p:nvPr/>
        </p:nvSpPr>
        <p:spPr>
          <a:xfrm>
            <a:off x="2904172" y="2422101"/>
            <a:ext cx="1195569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Import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4397E4-6275-0BF7-D7A2-BEB421E85313}"/>
              </a:ext>
            </a:extLst>
          </p:cNvPr>
          <p:cNvSpPr txBox="1"/>
          <p:nvPr/>
        </p:nvSpPr>
        <p:spPr>
          <a:xfrm>
            <a:off x="6985238" y="4989361"/>
            <a:ext cx="190195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Enviar</a:t>
            </a:r>
            <a:r>
              <a:rPr lang="en-US" dirty="0"/>
              <a:t> XML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2E1119-1CB7-58FC-B2F7-56A3C5BAB63F}"/>
              </a:ext>
            </a:extLst>
          </p:cNvPr>
          <p:cNvSpPr txBox="1"/>
          <p:nvPr/>
        </p:nvSpPr>
        <p:spPr>
          <a:xfrm>
            <a:off x="2769933" y="1674875"/>
            <a:ext cx="631739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INVOICING TOOL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CA691FD-4981-1AD3-A466-C54831DA2FF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5211458" y="4066031"/>
            <a:ext cx="1796720" cy="19704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2EE2FD9B-BADB-0870-94C5-0B37D59FE87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211458" y="2835437"/>
            <a:ext cx="1790369" cy="32010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8757F13-7DFB-504F-C4E0-07AFEA6D02DF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5211458" y="5174027"/>
            <a:ext cx="1773780" cy="8624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EDE631B-E857-86B4-8F36-E208BA277879}"/>
              </a:ext>
            </a:extLst>
          </p:cNvPr>
          <p:cNvSpPr txBox="1"/>
          <p:nvPr/>
        </p:nvSpPr>
        <p:spPr>
          <a:xfrm>
            <a:off x="296611" y="1690688"/>
            <a:ext cx="192595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MDB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31A3730-33A5-D1AA-5F68-A1338ED9E2A2}"/>
              </a:ext>
            </a:extLst>
          </p:cNvPr>
          <p:cNvCxnSpPr>
            <a:cxnSpLocks/>
          </p:cNvCxnSpPr>
          <p:nvPr/>
        </p:nvCxnSpPr>
        <p:spPr>
          <a:xfrm>
            <a:off x="2434155" y="1690688"/>
            <a:ext cx="0" cy="47865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B7F3368-C541-0212-3E82-0AA76F8965DE}"/>
              </a:ext>
            </a:extLst>
          </p:cNvPr>
          <p:cNvSpPr txBox="1"/>
          <p:nvPr/>
        </p:nvSpPr>
        <p:spPr>
          <a:xfrm>
            <a:off x="9396032" y="1690688"/>
            <a:ext cx="253288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r>
              <a:rPr lang="en-US" dirty="0"/>
              <a:t>SAP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071D36-66A2-7F9F-55F6-8CCEC7BEDA97}"/>
              </a:ext>
            </a:extLst>
          </p:cNvPr>
          <p:cNvSpPr txBox="1"/>
          <p:nvPr/>
        </p:nvSpPr>
        <p:spPr>
          <a:xfrm>
            <a:off x="9778809" y="2512271"/>
            <a:ext cx="179501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Cargar</a:t>
            </a:r>
            <a:r>
              <a:rPr lang="en-US" dirty="0"/>
              <a:t> XML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FF2E60-0871-DEF9-2C33-4F4E6173F83D}"/>
              </a:ext>
            </a:extLst>
          </p:cNvPr>
          <p:cNvSpPr txBox="1"/>
          <p:nvPr/>
        </p:nvSpPr>
        <p:spPr>
          <a:xfrm>
            <a:off x="9725343" y="3529647"/>
            <a:ext cx="1901952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corregir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BF1442-2725-7D8B-8941-538FDE81EB42}"/>
              </a:ext>
            </a:extLst>
          </p:cNvPr>
          <p:cNvSpPr txBox="1"/>
          <p:nvPr/>
        </p:nvSpPr>
        <p:spPr>
          <a:xfrm>
            <a:off x="9725343" y="4750600"/>
            <a:ext cx="190195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Transmitir</a:t>
            </a:r>
            <a:r>
              <a:rPr lang="en-US" dirty="0"/>
              <a:t> a SAP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97C1F37-E112-9503-F66D-0A3318B95E34}"/>
              </a:ext>
            </a:extLst>
          </p:cNvPr>
          <p:cNvCxnSpPr>
            <a:cxnSpLocks/>
          </p:cNvCxnSpPr>
          <p:nvPr/>
        </p:nvCxnSpPr>
        <p:spPr>
          <a:xfrm>
            <a:off x="9287827" y="1690688"/>
            <a:ext cx="0" cy="4869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itle 66">
            <a:extLst>
              <a:ext uri="{FF2B5EF4-FFF2-40B4-BE49-F238E27FC236}">
                <a16:creationId xmlns:a16="http://schemas.microsoft.com/office/drawing/2014/main" id="{3059D108-7817-F696-9A9C-41104B11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MDB INVOICING – Panama Transshipment Group</a:t>
            </a: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C5646C98-9B1F-F389-BF95-44972CCC0DCF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2114739" y="2714489"/>
            <a:ext cx="789433" cy="13892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1AA8F66-1F03-78CB-E084-F2853C3B459B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>
            <a:off x="10676319" y="2881603"/>
            <a:ext cx="0" cy="648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24B0FBD-DBEC-0F0E-2C24-51E0D87B885F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10676319" y="4175978"/>
            <a:ext cx="0" cy="574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3C55F69D-3A8D-91AF-7DCE-1132C9D5C851}"/>
              </a:ext>
            </a:extLst>
          </p:cNvPr>
          <p:cNvSpPr txBox="1"/>
          <p:nvPr/>
        </p:nvSpPr>
        <p:spPr>
          <a:xfrm>
            <a:off x="7001826" y="5919234"/>
            <a:ext cx="1901952" cy="64633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Generar</a:t>
            </a:r>
            <a:r>
              <a:rPr lang="en-US" dirty="0">
                <a:solidFill>
                  <a:schemeClr val="bg1"/>
                </a:solidFill>
              </a:rPr>
              <a:t> EDI a HKA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097E1EB-E79F-62BF-5B5E-D41616C63D7A}"/>
              </a:ext>
            </a:extLst>
          </p:cNvPr>
          <p:cNvSpPr txBox="1"/>
          <p:nvPr/>
        </p:nvSpPr>
        <p:spPr>
          <a:xfrm>
            <a:off x="4323149" y="2268640"/>
            <a:ext cx="1622125" cy="738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Importar</a:t>
            </a:r>
            <a:r>
              <a:rPr lang="en-US" sz="1400" dirty="0"/>
              <a:t> </a:t>
            </a:r>
            <a:r>
              <a:rPr lang="en-US" sz="1400" dirty="0" err="1"/>
              <a:t>reporte</a:t>
            </a:r>
            <a:r>
              <a:rPr lang="en-US" sz="1400" dirty="0"/>
              <a:t> de excel </a:t>
            </a:r>
            <a:r>
              <a:rPr lang="en-US" sz="1400" dirty="0" err="1"/>
              <a:t>Autoridades</a:t>
            </a:r>
            <a:endParaRPr lang="en-US" sz="14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87B424F-FE8D-6228-3F01-25118A4073C5}"/>
              </a:ext>
            </a:extLst>
          </p:cNvPr>
          <p:cNvSpPr txBox="1"/>
          <p:nvPr/>
        </p:nvSpPr>
        <p:spPr>
          <a:xfrm>
            <a:off x="3225741" y="4683062"/>
            <a:ext cx="1985717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Registrar </a:t>
            </a:r>
            <a:r>
              <a:rPr lang="en-US" sz="1600" dirty="0" err="1"/>
              <a:t>servicios</a:t>
            </a:r>
            <a:r>
              <a:rPr lang="en-US" sz="1600" dirty="0"/>
              <a:t> </a:t>
            </a:r>
            <a:r>
              <a:rPr lang="en-US" sz="1600" dirty="0" err="1"/>
              <a:t>adicionales</a:t>
            </a:r>
            <a:endParaRPr lang="en-US" sz="16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DE0651C-D408-49FA-0A66-464E4A629914}"/>
              </a:ext>
            </a:extLst>
          </p:cNvPr>
          <p:cNvSpPr txBox="1"/>
          <p:nvPr/>
        </p:nvSpPr>
        <p:spPr>
          <a:xfrm>
            <a:off x="3269821" y="3622045"/>
            <a:ext cx="1897558" cy="738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Vincular</a:t>
            </a:r>
            <a:r>
              <a:rPr lang="en-US" sz="1400" dirty="0"/>
              <a:t> </a:t>
            </a:r>
            <a:r>
              <a:rPr lang="en-US" sz="1400" dirty="0" err="1"/>
              <a:t>gastos</a:t>
            </a:r>
            <a:r>
              <a:rPr lang="en-US" sz="1400" dirty="0"/>
              <a:t> de </a:t>
            </a:r>
            <a:r>
              <a:rPr lang="en-US" sz="1400" dirty="0" err="1"/>
              <a:t>autoridades</a:t>
            </a:r>
            <a:r>
              <a:rPr lang="en-US" sz="1400" dirty="0"/>
              <a:t> a </a:t>
            </a:r>
            <a:r>
              <a:rPr lang="en-US" sz="1400" dirty="0" err="1"/>
              <a:t>los</a:t>
            </a:r>
            <a:r>
              <a:rPr lang="en-US" sz="1400" dirty="0"/>
              <a:t> </a:t>
            </a:r>
            <a:r>
              <a:rPr lang="en-US" sz="1400" dirty="0" err="1"/>
              <a:t>contenedores</a:t>
            </a:r>
            <a:endParaRPr lang="en-US" sz="1400" dirty="0"/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4FA82A6A-9B95-EBE4-4391-A97BD6819D15}"/>
              </a:ext>
            </a:extLst>
          </p:cNvPr>
          <p:cNvCxnSpPr>
            <a:cxnSpLocks/>
            <a:stCxn id="137" idx="2"/>
            <a:endCxn id="116" idx="0"/>
          </p:cNvCxnSpPr>
          <p:nvPr/>
        </p:nvCxnSpPr>
        <p:spPr>
          <a:xfrm>
            <a:off x="4218600" y="4360709"/>
            <a:ext cx="0" cy="322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97146938-117D-8023-CF15-B29CADD74B90}"/>
              </a:ext>
            </a:extLst>
          </p:cNvPr>
          <p:cNvCxnSpPr>
            <a:cxnSpLocks/>
            <a:stCxn id="8" idx="2"/>
            <a:endCxn id="137" idx="0"/>
          </p:cNvCxnSpPr>
          <p:nvPr/>
        </p:nvCxnSpPr>
        <p:spPr>
          <a:xfrm rot="16200000" flipH="1">
            <a:off x="3552694" y="2956138"/>
            <a:ext cx="615169" cy="7166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DB0D24E6-0627-8EDA-F93A-584F816247C6}"/>
              </a:ext>
            </a:extLst>
          </p:cNvPr>
          <p:cNvCxnSpPr>
            <a:cxnSpLocks/>
            <a:stCxn id="97" idx="2"/>
            <a:endCxn id="137" idx="0"/>
          </p:cNvCxnSpPr>
          <p:nvPr/>
        </p:nvCxnSpPr>
        <p:spPr>
          <a:xfrm rot="5400000">
            <a:off x="4369036" y="2856868"/>
            <a:ext cx="614741" cy="9156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186F6D7F-1214-9EDC-490F-3C5848BE1FF6}"/>
              </a:ext>
            </a:extLst>
          </p:cNvPr>
          <p:cNvCxnSpPr>
            <a:cxnSpLocks/>
            <a:stCxn id="116" idx="2"/>
            <a:endCxn id="5" idx="0"/>
          </p:cNvCxnSpPr>
          <p:nvPr/>
        </p:nvCxnSpPr>
        <p:spPr>
          <a:xfrm>
            <a:off x="4218600" y="5267837"/>
            <a:ext cx="0" cy="291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DD772D43-D8CC-2EA3-32CC-C261551108AE}"/>
              </a:ext>
            </a:extLst>
          </p:cNvPr>
          <p:cNvCxnSpPr>
            <a:cxnSpLocks/>
            <a:stCxn id="10" idx="3"/>
            <a:endCxn id="39" idx="1"/>
          </p:cNvCxnSpPr>
          <p:nvPr/>
        </p:nvCxnSpPr>
        <p:spPr>
          <a:xfrm flipV="1">
            <a:off x="8887190" y="2696937"/>
            <a:ext cx="891619" cy="2477090"/>
          </a:xfrm>
          <a:prstGeom prst="bentConnector3">
            <a:avLst>
              <a:gd name="adj1" fmla="val 6709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27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655A4-C79E-9858-4C59-314C1F49B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As-is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B1E30-9C11-F5AD-D454-7C057BE6C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 </a:t>
            </a:r>
            <a:r>
              <a:rPr lang="en-US" dirty="0" err="1"/>
              <a:t>el</a:t>
            </a:r>
            <a:r>
              <a:rPr lang="en-US" dirty="0"/>
              <a:t> summary,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directo</a:t>
            </a:r>
            <a:r>
              <a:rPr lang="en-US" dirty="0"/>
              <a:t> a HKA para </a:t>
            </a:r>
            <a:r>
              <a:rPr lang="en-US" dirty="0" err="1"/>
              <a:t>generar</a:t>
            </a:r>
            <a:r>
              <a:rPr lang="en-US" dirty="0"/>
              <a:t> la </a:t>
            </a:r>
            <a:r>
              <a:rPr lang="en-US" dirty="0" err="1"/>
              <a:t>facturacion</a:t>
            </a:r>
            <a:r>
              <a:rPr lang="en-US" dirty="0"/>
              <a:t> electronica.</a:t>
            </a:r>
          </a:p>
          <a:p>
            <a:r>
              <a:rPr lang="en-US" dirty="0"/>
              <a:t>Filtra para </a:t>
            </a:r>
            <a:r>
              <a:rPr lang="en-US" dirty="0" err="1"/>
              <a:t>verificar</a:t>
            </a:r>
            <a:r>
              <a:rPr lang="en-US" dirty="0"/>
              <a:t> que </a:t>
            </a:r>
            <a:r>
              <a:rPr lang="en-US" dirty="0" err="1"/>
              <a:t>el</a:t>
            </a:r>
            <a:r>
              <a:rPr lang="en-US" dirty="0"/>
              <a:t> pivot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correcto</a:t>
            </a:r>
            <a:r>
              <a:rPr lang="en-US" dirty="0"/>
              <a:t>.</a:t>
            </a:r>
          </a:p>
          <a:p>
            <a:r>
              <a:rPr lang="en-US" dirty="0"/>
              <a:t>MSC Modo / Leg</a:t>
            </a:r>
          </a:p>
          <a:p>
            <a:r>
              <a:rPr lang="en-US" dirty="0"/>
              <a:t>SEA Modo / Leg / Type</a:t>
            </a:r>
          </a:p>
          <a:p>
            <a:r>
              <a:rPr lang="en-US" dirty="0"/>
              <a:t>Genera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documento</a:t>
            </a:r>
            <a:endParaRPr lang="en-US" dirty="0"/>
          </a:p>
          <a:p>
            <a:r>
              <a:rPr lang="en-US" dirty="0"/>
              <a:t>Factura </a:t>
            </a:r>
            <a:r>
              <a:rPr lang="en-US" dirty="0" err="1"/>
              <a:t>aparte</a:t>
            </a:r>
            <a:r>
              <a:rPr lang="en-US" dirty="0"/>
              <a:t> para APA y QUA </a:t>
            </a:r>
            <a:r>
              <a:rPr lang="en-US" dirty="0" err="1"/>
              <a:t>solamente</a:t>
            </a:r>
            <a:r>
              <a:rPr lang="en-US" dirty="0"/>
              <a:t> (Aduana se </a:t>
            </a:r>
            <a:r>
              <a:rPr lang="en-US" dirty="0" err="1"/>
              <a:t>incluye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movimientos</a:t>
            </a:r>
            <a:r>
              <a:rPr lang="en-US" dirty="0"/>
              <a:t>)</a:t>
            </a:r>
          </a:p>
          <a:p>
            <a:r>
              <a:rPr lang="en-US" dirty="0"/>
              <a:t>Envia fiscal</a:t>
            </a:r>
          </a:p>
          <a:p>
            <a:r>
              <a:rPr lang="en-US" dirty="0"/>
              <a:t>No Taulia, </a:t>
            </a:r>
            <a:r>
              <a:rPr lang="en-US" dirty="0" err="1"/>
              <a:t>ni</a:t>
            </a:r>
            <a:r>
              <a:rPr lang="en-US" dirty="0"/>
              <a:t> proforma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31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61873-63C1-798E-A252-F2CA5DC78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To-be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445B1-C7E7-7839-4FB5-3260F0B55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Invoicing: </a:t>
            </a:r>
          </a:p>
          <a:p>
            <a:pPr lvl="1"/>
            <a:r>
              <a:rPr lang="en-US" dirty="0" err="1"/>
              <a:t>Filtrar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MDB y </a:t>
            </a: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XML para SAP.</a:t>
            </a:r>
          </a:p>
          <a:p>
            <a:pPr lvl="1"/>
            <a:r>
              <a:rPr lang="en-US" dirty="0"/>
              <a:t>Registrar facturas y </a:t>
            </a:r>
            <a:r>
              <a:rPr lang="en-US" dirty="0" err="1"/>
              <a:t>pagos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asociados</a:t>
            </a:r>
            <a:r>
              <a:rPr lang="en-US" dirty="0"/>
              <a:t> (</a:t>
            </a:r>
            <a:r>
              <a:rPr lang="en-US" dirty="0" err="1"/>
              <a:t>pagos</a:t>
            </a:r>
            <a:r>
              <a:rPr lang="en-US" dirty="0"/>
              <a:t>).</a:t>
            </a:r>
          </a:p>
          <a:p>
            <a:r>
              <a:rPr lang="en-US" dirty="0"/>
              <a:t>HKA: import data del Invoicing</a:t>
            </a:r>
          </a:p>
        </p:txBody>
      </p:sp>
    </p:spTree>
    <p:extLst>
      <p:ext uri="{BB962C8B-B14F-4D97-AF65-F5344CB8AC3E}">
        <p14:creationId xmlns:p14="http://schemas.microsoft.com/office/powerpoint/2010/main" val="2374651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61872-F2BB-690C-392C-9C8AE3E3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FB7F69-4A91-7A0E-9DFB-192C160A150B}"/>
              </a:ext>
            </a:extLst>
          </p:cNvPr>
          <p:cNvSpPr txBox="1"/>
          <p:nvPr/>
        </p:nvSpPr>
        <p:spPr>
          <a:xfrm>
            <a:off x="7010268" y="2715471"/>
            <a:ext cx="1901952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reporte</a:t>
            </a:r>
            <a:r>
              <a:rPr lang="en-US" dirty="0"/>
              <a:t> de Tulia </a:t>
            </a:r>
            <a:r>
              <a:rPr lang="en-US" dirty="0" err="1"/>
              <a:t>en</a:t>
            </a:r>
            <a:r>
              <a:rPr lang="en-US" dirty="0"/>
              <a:t> excel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E54F2F-87CD-2D8A-5A6F-B9AC44B86E22}"/>
              </a:ext>
            </a:extLst>
          </p:cNvPr>
          <p:cNvSpPr txBox="1"/>
          <p:nvPr/>
        </p:nvSpPr>
        <p:spPr>
          <a:xfrm>
            <a:off x="7010267" y="3625453"/>
            <a:ext cx="1901952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Generar</a:t>
            </a:r>
            <a:r>
              <a:rPr lang="en-US" dirty="0"/>
              <a:t> factura proforma (</a:t>
            </a:r>
            <a:r>
              <a:rPr lang="en-US" dirty="0" err="1"/>
              <a:t>fisica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pdf) con sus </a:t>
            </a:r>
            <a:r>
              <a:rPr lang="en-US" dirty="0" err="1"/>
              <a:t>respectivos</a:t>
            </a:r>
            <a:r>
              <a:rPr lang="en-US" dirty="0"/>
              <a:t> </a:t>
            </a:r>
            <a:r>
              <a:rPr lang="en-US" dirty="0" err="1"/>
              <a:t>adjuntos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F44DB4-2A74-9182-6E8A-E8D58D197125}"/>
              </a:ext>
            </a:extLst>
          </p:cNvPr>
          <p:cNvSpPr txBox="1"/>
          <p:nvPr/>
        </p:nvSpPr>
        <p:spPr>
          <a:xfrm>
            <a:off x="3857494" y="2456451"/>
            <a:ext cx="190195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Import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D904AE-7582-2250-46A5-DE6A89E7EC36}"/>
              </a:ext>
            </a:extLst>
          </p:cNvPr>
          <p:cNvSpPr txBox="1"/>
          <p:nvPr/>
        </p:nvSpPr>
        <p:spPr>
          <a:xfrm>
            <a:off x="7010267" y="5403582"/>
            <a:ext cx="190195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Envia XML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2F83F1-12F2-BDF5-476D-C1057E8411DE}"/>
              </a:ext>
            </a:extLst>
          </p:cNvPr>
          <p:cNvSpPr txBox="1"/>
          <p:nvPr/>
        </p:nvSpPr>
        <p:spPr>
          <a:xfrm>
            <a:off x="3453252" y="2012664"/>
            <a:ext cx="565099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INVOICINIG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CABFD48-9C0C-60FC-A388-CA73A872F76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5776051" y="4364117"/>
            <a:ext cx="1234216" cy="14379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F81B7EC-1EA3-264E-5F88-D8FB61CD718B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5776051" y="3038637"/>
            <a:ext cx="1234217" cy="2842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2F1DA51-9EC3-4789-CA8A-D7F3C44AB716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776051" y="5588248"/>
            <a:ext cx="1234216" cy="2931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CE3A4F4-17C5-7CF5-0835-6C4B10F62C08}"/>
              </a:ext>
            </a:extLst>
          </p:cNvPr>
          <p:cNvSpPr txBox="1"/>
          <p:nvPr/>
        </p:nvSpPr>
        <p:spPr>
          <a:xfrm>
            <a:off x="740532" y="1495979"/>
            <a:ext cx="837442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New System PTY TOOL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350B6A0-607F-6776-61E3-88AB122F6D83}"/>
              </a:ext>
            </a:extLst>
          </p:cNvPr>
          <p:cNvCxnSpPr>
            <a:cxnSpLocks/>
          </p:cNvCxnSpPr>
          <p:nvPr/>
        </p:nvCxnSpPr>
        <p:spPr>
          <a:xfrm>
            <a:off x="3374004" y="1893888"/>
            <a:ext cx="0" cy="47865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F3E154D-D40B-CF84-7F90-657C021492DC}"/>
              </a:ext>
            </a:extLst>
          </p:cNvPr>
          <p:cNvSpPr txBox="1"/>
          <p:nvPr/>
        </p:nvSpPr>
        <p:spPr>
          <a:xfrm>
            <a:off x="9680317" y="2022117"/>
            <a:ext cx="1955419" cy="36933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SAP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9B74E8-C6D7-5157-57EF-5F8EBEB3C201}"/>
              </a:ext>
            </a:extLst>
          </p:cNvPr>
          <p:cNvSpPr txBox="1"/>
          <p:nvPr/>
        </p:nvSpPr>
        <p:spPr>
          <a:xfrm>
            <a:off x="9787250" y="2715471"/>
            <a:ext cx="179501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Cargar</a:t>
            </a:r>
            <a:r>
              <a:rPr lang="en-US" dirty="0"/>
              <a:t> XML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2460A3-90E0-B3A5-E97E-37F21CD132F8}"/>
              </a:ext>
            </a:extLst>
          </p:cNvPr>
          <p:cNvSpPr txBox="1"/>
          <p:nvPr/>
        </p:nvSpPr>
        <p:spPr>
          <a:xfrm>
            <a:off x="9733784" y="3732847"/>
            <a:ext cx="1901952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corregir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30BC64-B37B-72EF-AE6A-0187FCFC3620}"/>
              </a:ext>
            </a:extLst>
          </p:cNvPr>
          <p:cNvSpPr txBox="1"/>
          <p:nvPr/>
        </p:nvSpPr>
        <p:spPr>
          <a:xfrm>
            <a:off x="9733784" y="4953800"/>
            <a:ext cx="190195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Transmitir</a:t>
            </a:r>
            <a:r>
              <a:rPr lang="en-US" dirty="0"/>
              <a:t> a SAP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C4A4A18-71F0-5E83-5B45-5A984FE54AA1}"/>
              </a:ext>
            </a:extLst>
          </p:cNvPr>
          <p:cNvCxnSpPr>
            <a:cxnSpLocks/>
          </p:cNvCxnSpPr>
          <p:nvPr/>
        </p:nvCxnSpPr>
        <p:spPr>
          <a:xfrm>
            <a:off x="9296268" y="1893888"/>
            <a:ext cx="0" cy="4869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itle 66">
            <a:extLst>
              <a:ext uri="{FF2B5EF4-FFF2-40B4-BE49-F238E27FC236}">
                <a16:creationId xmlns:a16="http://schemas.microsoft.com/office/drawing/2014/main" id="{BBCA9043-D3A5-5276-4DE1-794A737D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Agency – PTYSS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DD0E6C-2BFF-E45D-6F7D-D0F601AD17C6}"/>
              </a:ext>
            </a:extLst>
          </p:cNvPr>
          <p:cNvSpPr txBox="1"/>
          <p:nvPr/>
        </p:nvSpPr>
        <p:spPr>
          <a:xfrm>
            <a:off x="811312" y="2594950"/>
            <a:ext cx="2063243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Registrar Viaje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287CF45-3601-B104-0F01-AD1723A72563}"/>
              </a:ext>
            </a:extLst>
          </p:cNvPr>
          <p:cNvCxnSpPr>
            <a:cxnSpLocks/>
            <a:stCxn id="56" idx="3"/>
            <a:endCxn id="8" idx="1"/>
          </p:cNvCxnSpPr>
          <p:nvPr/>
        </p:nvCxnSpPr>
        <p:spPr>
          <a:xfrm flipV="1">
            <a:off x="2802376" y="2641117"/>
            <a:ext cx="1055118" cy="3487666"/>
          </a:xfrm>
          <a:prstGeom prst="bentConnector3">
            <a:avLst>
              <a:gd name="adj1" fmla="val 387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9892058-BBD0-C52A-8AB8-52CC9E4DCA71}"/>
              </a:ext>
            </a:extLst>
          </p:cNvPr>
          <p:cNvCxnSpPr>
            <a:cxnSpLocks/>
            <a:stCxn id="8" idx="2"/>
            <a:endCxn id="27" idx="0"/>
          </p:cNvCxnSpPr>
          <p:nvPr/>
        </p:nvCxnSpPr>
        <p:spPr>
          <a:xfrm>
            <a:off x="4808470" y="2825783"/>
            <a:ext cx="7493" cy="818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52DED27-815D-C8CC-9101-8949F4DEABA5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>
            <a:off x="10684760" y="3084803"/>
            <a:ext cx="0" cy="648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EEACD60-AD77-2757-D620-58EECD3E801F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10684760" y="4379178"/>
            <a:ext cx="0" cy="574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D8706A9-3462-50C1-7AA5-1A2457EEFA0C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>
            <a:off x="4815963" y="4013835"/>
            <a:ext cx="0" cy="883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C95B94-BEDF-57CA-9BCF-13B5F6F0A0BE}"/>
              </a:ext>
            </a:extLst>
          </p:cNvPr>
          <p:cNvSpPr txBox="1"/>
          <p:nvPr/>
        </p:nvSpPr>
        <p:spPr>
          <a:xfrm>
            <a:off x="891668" y="3602993"/>
            <a:ext cx="1901952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Marcar Viajes </a:t>
            </a:r>
            <a:r>
              <a:rPr lang="en-US" dirty="0" err="1"/>
              <a:t>Completados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46D8F56-44E7-A58B-296B-68660AB0401C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1842644" y="2964282"/>
            <a:ext cx="290" cy="638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A7CBEEE-EF8E-9D5A-95E7-616A23D06D6E}"/>
              </a:ext>
            </a:extLst>
          </p:cNvPr>
          <p:cNvSpPr txBox="1"/>
          <p:nvPr/>
        </p:nvSpPr>
        <p:spPr>
          <a:xfrm>
            <a:off x="891668" y="4655798"/>
            <a:ext cx="1922800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Adjuntar</a:t>
            </a:r>
            <a:r>
              <a:rPr lang="en-US" dirty="0"/>
              <a:t> </a:t>
            </a:r>
            <a:r>
              <a:rPr lang="en-US" dirty="0" err="1"/>
              <a:t>soportes</a:t>
            </a:r>
            <a:r>
              <a:rPr lang="en-US" dirty="0"/>
              <a:t> PDF </a:t>
            </a:r>
            <a:r>
              <a:rPr lang="en-US" dirty="0" err="1"/>
              <a:t>por</a:t>
            </a:r>
            <a:r>
              <a:rPr lang="en-US" dirty="0"/>
              <a:t> Viaje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B04F6B-4C84-1939-DD20-37A62FC11107}"/>
              </a:ext>
            </a:extLst>
          </p:cNvPr>
          <p:cNvSpPr txBox="1"/>
          <p:nvPr/>
        </p:nvSpPr>
        <p:spPr>
          <a:xfrm>
            <a:off x="3864987" y="3644503"/>
            <a:ext cx="190195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adjuntos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E6042F-A348-4219-685A-AF725B9B8A0D}"/>
              </a:ext>
            </a:extLst>
          </p:cNvPr>
          <p:cNvSpPr txBox="1"/>
          <p:nvPr/>
        </p:nvSpPr>
        <p:spPr>
          <a:xfrm>
            <a:off x="900424" y="5944117"/>
            <a:ext cx="190195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Enviar</a:t>
            </a:r>
            <a:r>
              <a:rPr lang="en-US" dirty="0"/>
              <a:t> data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85659F8-1BE6-3912-7E7E-AF70C12ACA5B}"/>
              </a:ext>
            </a:extLst>
          </p:cNvPr>
          <p:cNvCxnSpPr>
            <a:cxnSpLocks/>
            <a:stCxn id="16" idx="2"/>
            <a:endCxn id="56" idx="0"/>
          </p:cNvCxnSpPr>
          <p:nvPr/>
        </p:nvCxnSpPr>
        <p:spPr>
          <a:xfrm flipH="1">
            <a:off x="1851400" y="5579128"/>
            <a:ext cx="1668" cy="364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A4EFFDF-7B3B-A2B5-BF5E-D56045D21471}"/>
              </a:ext>
            </a:extLst>
          </p:cNvPr>
          <p:cNvSpPr txBox="1"/>
          <p:nvPr/>
        </p:nvSpPr>
        <p:spPr>
          <a:xfrm>
            <a:off x="7010267" y="5990284"/>
            <a:ext cx="1901952" cy="64633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Generar</a:t>
            </a:r>
            <a:r>
              <a:rPr lang="en-US" dirty="0">
                <a:solidFill>
                  <a:schemeClr val="bg1"/>
                </a:solidFill>
              </a:rPr>
              <a:t> EDI a HKA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3BEE511D-5862-BA80-10A4-09E476D913F1}"/>
              </a:ext>
            </a:extLst>
          </p:cNvPr>
          <p:cNvCxnSpPr>
            <a:cxnSpLocks/>
          </p:cNvCxnSpPr>
          <p:nvPr/>
        </p:nvCxnSpPr>
        <p:spPr>
          <a:xfrm flipV="1">
            <a:off x="8885358" y="2900137"/>
            <a:ext cx="875031" cy="2688111"/>
          </a:xfrm>
          <a:prstGeom prst="bentConnector3">
            <a:avLst>
              <a:gd name="adj1" fmla="val 593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38B67F-CBE3-CEC7-3851-071F32C697D8}"/>
              </a:ext>
            </a:extLst>
          </p:cNvPr>
          <p:cNvSpPr txBox="1"/>
          <p:nvPr/>
        </p:nvSpPr>
        <p:spPr>
          <a:xfrm>
            <a:off x="740532" y="2013102"/>
            <a:ext cx="253288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0E6C200-671B-0EAB-AF48-35E84C43F160}"/>
              </a:ext>
            </a:extLst>
          </p:cNvPr>
          <p:cNvCxnSpPr>
            <a:cxnSpLocks/>
            <a:stCxn id="3" idx="2"/>
            <a:endCxn id="16" idx="0"/>
          </p:cNvCxnSpPr>
          <p:nvPr/>
        </p:nvCxnSpPr>
        <p:spPr>
          <a:xfrm>
            <a:off x="1842644" y="4249324"/>
            <a:ext cx="10424" cy="406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CE21471-0188-5D51-885C-2D29104D36DA}"/>
              </a:ext>
            </a:extLst>
          </p:cNvPr>
          <p:cNvSpPr txBox="1"/>
          <p:nvPr/>
        </p:nvSpPr>
        <p:spPr>
          <a:xfrm>
            <a:off x="3864987" y="4897377"/>
            <a:ext cx="1901952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Seleccionar</a:t>
            </a:r>
            <a:r>
              <a:rPr lang="en-US" sz="1800" dirty="0"/>
              <a:t> </a:t>
            </a:r>
            <a:r>
              <a:rPr lang="en-US" sz="1800" dirty="0" err="1"/>
              <a:t>parametros</a:t>
            </a:r>
            <a:r>
              <a:rPr lang="en-US" sz="1800" dirty="0"/>
              <a:t>:  Por </a:t>
            </a:r>
            <a:r>
              <a:rPr lang="en-US" sz="1800" dirty="0" err="1"/>
              <a:t>cliente</a:t>
            </a:r>
            <a:r>
              <a:rPr lang="en-US" sz="1800" dirty="0"/>
              <a:t>, </a:t>
            </a:r>
            <a:r>
              <a:rPr lang="en-US" sz="1800" dirty="0" err="1"/>
              <a:t>barco</a:t>
            </a:r>
            <a:r>
              <a:rPr lang="en-US" sz="1800" dirty="0"/>
              <a:t>/</a:t>
            </a:r>
            <a:r>
              <a:rPr lang="en-US" sz="1800" dirty="0" err="1"/>
              <a:t>viaje</a:t>
            </a:r>
            <a:r>
              <a:rPr lang="en-US" sz="1800" dirty="0"/>
              <a:t> y/o </a:t>
            </a:r>
            <a:r>
              <a:rPr lang="en-US" sz="1800" dirty="0" err="1"/>
              <a:t>rango</a:t>
            </a:r>
            <a:r>
              <a:rPr lang="en-US" sz="1800" dirty="0"/>
              <a:t> de </a:t>
            </a:r>
            <a:r>
              <a:rPr lang="en-US" sz="1800" dirty="0" err="1"/>
              <a:t>fechas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6454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9C9DD-EA32-44B5-F581-B678B01CE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20543-F158-51C4-DE45-F49C5E51E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6DF0E-08B4-30CD-74A7-C350BDE10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 </a:t>
            </a:r>
            <a:r>
              <a:rPr lang="en-US" dirty="0" err="1"/>
              <a:t>flujo</a:t>
            </a:r>
            <a:endParaRPr lang="en-US" dirty="0"/>
          </a:p>
          <a:p>
            <a:r>
              <a:rPr lang="en-US" dirty="0" err="1"/>
              <a:t>Ingresar</a:t>
            </a:r>
            <a:r>
              <a:rPr lang="en-US" dirty="0"/>
              <a:t> </a:t>
            </a:r>
            <a:r>
              <a:rPr lang="en-US" dirty="0" err="1"/>
              <a:t>datos</a:t>
            </a:r>
            <a:endParaRPr lang="en-US" dirty="0"/>
          </a:p>
          <a:p>
            <a:r>
              <a:rPr lang="en-US" dirty="0"/>
              <a:t>Pending</a:t>
            </a:r>
          </a:p>
          <a:p>
            <a:r>
              <a:rPr lang="en-US" dirty="0"/>
              <a:t>In progress</a:t>
            </a:r>
          </a:p>
          <a:p>
            <a:r>
              <a:rPr lang="en-US" dirty="0"/>
              <a:t>Completed</a:t>
            </a:r>
          </a:p>
          <a:p>
            <a:r>
              <a:rPr lang="en-US" dirty="0"/>
              <a:t>Send </a:t>
            </a:r>
          </a:p>
        </p:txBody>
      </p:sp>
    </p:spTree>
    <p:extLst>
      <p:ext uri="{BB962C8B-B14F-4D97-AF65-F5344CB8AC3E}">
        <p14:creationId xmlns:p14="http://schemas.microsoft.com/office/powerpoint/2010/main" val="359763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A09EC-C3D4-90CC-CE37-D25837B2D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Facturacion</a:t>
            </a:r>
            <a:r>
              <a:rPr lang="en-US" dirty="0"/>
              <a:t> de Agencia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E3143-F31C-2C02-C4C0-C3E22E936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Tarifa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ruta</a:t>
            </a:r>
            <a:r>
              <a:rPr lang="en-US" dirty="0"/>
              <a:t> y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cantidad</a:t>
            </a:r>
            <a:r>
              <a:rPr lang="en-US" dirty="0"/>
              <a:t> de personas</a:t>
            </a:r>
          </a:p>
          <a:p>
            <a:r>
              <a:rPr lang="en-US" dirty="0"/>
              <a:t>Entry pass : yes/no</a:t>
            </a:r>
          </a:p>
          <a:p>
            <a:pPr lvl="1"/>
            <a:r>
              <a:rPr lang="en-US" dirty="0"/>
              <a:t>Entre pass x $10.00</a:t>
            </a:r>
          </a:p>
          <a:p>
            <a:r>
              <a:rPr lang="en-US" dirty="0"/>
              <a:t>Waiting time : </a:t>
            </a:r>
          </a:p>
          <a:p>
            <a:pPr lvl="1"/>
            <a:r>
              <a:rPr lang="en-US" dirty="0"/>
              <a:t>Tiempo x </a:t>
            </a:r>
            <a:r>
              <a:rPr lang="en-US" dirty="0" err="1"/>
              <a:t>tarifa</a:t>
            </a:r>
            <a:endParaRPr lang="en-US" dirty="0"/>
          </a:p>
          <a:p>
            <a:r>
              <a:rPr lang="en-US" dirty="0"/>
              <a:t>Factura </a:t>
            </a:r>
            <a:r>
              <a:rPr lang="en-US" dirty="0" err="1"/>
              <a:t>por</a:t>
            </a:r>
            <a:r>
              <a:rPr lang="en-US" dirty="0"/>
              <a:t> Barco / </a:t>
            </a:r>
            <a:r>
              <a:rPr lang="en-US" dirty="0" err="1"/>
              <a:t>viaje</a:t>
            </a:r>
            <a:r>
              <a:rPr lang="en-US" dirty="0"/>
              <a:t> </a:t>
            </a:r>
            <a:r>
              <a:rPr lang="en-US" dirty="0" err="1"/>
              <a:t>desglosado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Rango</a:t>
            </a:r>
          </a:p>
          <a:p>
            <a:pPr lvl="1"/>
            <a:r>
              <a:rPr lang="en-US" dirty="0"/>
              <a:t>Rango </a:t>
            </a:r>
          </a:p>
          <a:p>
            <a:pPr lvl="2"/>
            <a:r>
              <a:rPr lang="en-US" dirty="0"/>
              <a:t>1 seal check </a:t>
            </a:r>
          </a:p>
          <a:p>
            <a:pPr lvl="2"/>
            <a:r>
              <a:rPr lang="en-US" dirty="0"/>
              <a:t>2 security </a:t>
            </a:r>
          </a:p>
          <a:p>
            <a:pPr lvl="2"/>
            <a:r>
              <a:rPr lang="en-US" dirty="0"/>
              <a:t>3 </a:t>
            </a:r>
            <a:r>
              <a:rPr lang="en-US" dirty="0" err="1"/>
              <a:t>todo</a:t>
            </a:r>
            <a:r>
              <a:rPr lang="en-US" dirty="0"/>
              <a:t> lo </a:t>
            </a:r>
            <a:r>
              <a:rPr lang="en-US" dirty="0" err="1"/>
              <a:t>demas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47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3C5F-CC0E-B75E-1D7A-1B68F14AA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Pagos a </a:t>
            </a:r>
            <a:r>
              <a:rPr lang="en-US" dirty="0" err="1"/>
              <a:t>Tercerizados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385C3-E000-2D40-9B49-1D501ABF66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As-Is</a:t>
            </a:r>
          </a:p>
          <a:p>
            <a:r>
              <a:rPr lang="en-US" dirty="0" err="1"/>
              <a:t>Tercerizado</a:t>
            </a:r>
            <a:r>
              <a:rPr lang="en-US" dirty="0"/>
              <a:t> </a:t>
            </a:r>
            <a:r>
              <a:rPr lang="en-US" dirty="0" err="1"/>
              <a:t>envia</a:t>
            </a:r>
            <a:r>
              <a:rPr lang="en-US" dirty="0"/>
              <a:t> factura a Agencia</a:t>
            </a:r>
          </a:p>
          <a:p>
            <a:r>
              <a:rPr lang="en-US" dirty="0" err="1"/>
              <a:t>Registra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control</a:t>
            </a:r>
          </a:p>
          <a:p>
            <a:r>
              <a:rPr lang="en-US" dirty="0" err="1"/>
              <a:t>Envio</a:t>
            </a:r>
            <a:r>
              <a:rPr lang="en-US" dirty="0"/>
              <a:t> de </a:t>
            </a:r>
            <a:r>
              <a:rPr lang="en-US" dirty="0" err="1"/>
              <a:t>reporte</a:t>
            </a:r>
            <a:r>
              <a:rPr lang="en-US" dirty="0"/>
              <a:t> para </a:t>
            </a:r>
            <a:r>
              <a:rPr lang="en-US" dirty="0" err="1"/>
              <a:t>pagos</a:t>
            </a:r>
            <a:r>
              <a:rPr lang="en-US" dirty="0"/>
              <a:t> a </a:t>
            </a:r>
            <a:r>
              <a:rPr lang="en-US" dirty="0" err="1"/>
              <a:t>asociados</a:t>
            </a:r>
            <a:r>
              <a:rPr lang="en-US" dirty="0"/>
              <a:t> a Yesenia</a:t>
            </a:r>
          </a:p>
          <a:p>
            <a:r>
              <a:rPr lang="en-US" dirty="0"/>
              <a:t>Revision de facturas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tercerizados</a:t>
            </a:r>
            <a:r>
              <a:rPr lang="en-US" dirty="0"/>
              <a:t> versus lo que </a:t>
            </a:r>
            <a:r>
              <a:rPr lang="en-US" dirty="0" err="1"/>
              <a:t>ya</a:t>
            </a:r>
            <a:r>
              <a:rPr lang="en-US" dirty="0"/>
              <a:t> se </a:t>
            </a:r>
            <a:r>
              <a:rPr lang="en-US" dirty="0" err="1"/>
              <a:t>pago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1FF5A-C176-53DF-9478-F40E95613B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To-be</a:t>
            </a:r>
          </a:p>
          <a:p>
            <a:r>
              <a:rPr lang="en-US" dirty="0"/>
              <a:t>Agencia </a:t>
            </a:r>
            <a:r>
              <a:rPr lang="en-US" dirty="0" err="1"/>
              <a:t>envia</a:t>
            </a:r>
            <a:r>
              <a:rPr lang="en-US" dirty="0"/>
              <a:t> SR a </a:t>
            </a:r>
            <a:r>
              <a:rPr lang="en-US" dirty="0" err="1"/>
              <a:t>Tercerizado</a:t>
            </a:r>
            <a:r>
              <a:rPr lang="en-US" dirty="0"/>
              <a:t> (</a:t>
            </a:r>
            <a:r>
              <a:rPr lang="en-US" dirty="0" err="1"/>
              <a:t>numero</a:t>
            </a:r>
            <a:r>
              <a:rPr lang="en-US" dirty="0"/>
              <a:t> </a:t>
            </a:r>
            <a:r>
              <a:rPr lang="en-US" dirty="0" err="1"/>
              <a:t>unico</a:t>
            </a:r>
            <a:r>
              <a:rPr lang="en-US" dirty="0"/>
              <a:t>)</a:t>
            </a:r>
          </a:p>
          <a:p>
            <a:r>
              <a:rPr lang="en-US" dirty="0" err="1"/>
              <a:t>Tercerizado</a:t>
            </a:r>
            <a:r>
              <a:rPr lang="en-US" dirty="0"/>
              <a:t> </a:t>
            </a:r>
            <a:r>
              <a:rPr lang="en-US" dirty="0" err="1"/>
              <a:t>envia</a:t>
            </a:r>
            <a:r>
              <a:rPr lang="en-US" dirty="0"/>
              <a:t> factura a Proveedores (Yesenia) con </a:t>
            </a:r>
            <a:r>
              <a:rPr lang="en-US" dirty="0" err="1"/>
              <a:t>numero</a:t>
            </a:r>
            <a:r>
              <a:rPr lang="en-US" dirty="0"/>
              <a:t> de SR</a:t>
            </a:r>
          </a:p>
          <a:p>
            <a:r>
              <a:rPr lang="en-US" dirty="0"/>
              <a:t>Proveedores </a:t>
            </a:r>
            <a:r>
              <a:rPr lang="en-US" dirty="0" err="1"/>
              <a:t>registra</a:t>
            </a:r>
            <a:r>
              <a:rPr lang="en-US" dirty="0"/>
              <a:t> factura de </a:t>
            </a:r>
            <a:r>
              <a:rPr lang="en-US" dirty="0" err="1"/>
              <a:t>Tercerizado</a:t>
            </a:r>
            <a:r>
              <a:rPr lang="en-US" dirty="0"/>
              <a:t> </a:t>
            </a:r>
            <a:r>
              <a:rPr lang="en-US" dirty="0" err="1"/>
              <a:t>asociando</a:t>
            </a:r>
            <a:r>
              <a:rPr lang="en-US" dirty="0"/>
              <a:t> a </a:t>
            </a:r>
            <a:r>
              <a:rPr lang="en-US" dirty="0" err="1"/>
              <a:t>numero</a:t>
            </a:r>
            <a:r>
              <a:rPr lang="en-US" dirty="0"/>
              <a:t> de SR.</a:t>
            </a:r>
          </a:p>
          <a:p>
            <a:r>
              <a:rPr lang="en-US" dirty="0"/>
              <a:t>Proveedores Paga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279E7-AF5B-E278-3175-D3EEECD68F62}"/>
              </a:ext>
            </a:extLst>
          </p:cNvPr>
          <p:cNvSpPr txBox="1"/>
          <p:nvPr/>
        </p:nvSpPr>
        <p:spPr>
          <a:xfrm>
            <a:off x="8763000" y="6104466"/>
            <a:ext cx="322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(*) SR = Service Request</a:t>
            </a:r>
          </a:p>
        </p:txBody>
      </p:sp>
    </p:spTree>
    <p:extLst>
      <p:ext uri="{BB962C8B-B14F-4D97-AF65-F5344CB8AC3E}">
        <p14:creationId xmlns:p14="http://schemas.microsoft.com/office/powerpoint/2010/main" val="1912068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3FC4E-025F-2059-C88A-7D02EC3D2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 </a:t>
            </a:r>
            <a:r>
              <a:rPr lang="en-US" dirty="0" err="1"/>
              <a:t>revisar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906AF-2267-1454-DB18-87D6D4E4C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Revisar</a:t>
            </a:r>
            <a:r>
              <a:rPr lang="en-US" dirty="0"/>
              <a:t> con MSC Local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reportes</a:t>
            </a:r>
            <a:r>
              <a:rPr lang="en-US" dirty="0"/>
              <a:t> que necessitarian </a:t>
            </a:r>
            <a:r>
              <a:rPr lang="en-US" dirty="0" err="1"/>
              <a:t>cuando</a:t>
            </a:r>
            <a:r>
              <a:rPr lang="en-US" dirty="0"/>
              <a:t> se </a:t>
            </a:r>
            <a:r>
              <a:rPr lang="en-US" dirty="0" err="1"/>
              <a:t>implemente</a:t>
            </a:r>
            <a:r>
              <a:rPr lang="en-US" dirty="0"/>
              <a:t> SAP</a:t>
            </a:r>
          </a:p>
        </p:txBody>
      </p:sp>
    </p:spTree>
    <p:extLst>
      <p:ext uri="{BB962C8B-B14F-4D97-AF65-F5344CB8AC3E}">
        <p14:creationId xmlns:p14="http://schemas.microsoft.com/office/powerpoint/2010/main" val="3828400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6DEA01-E68A-ECE9-8591-56B354857E46}"/>
              </a:ext>
            </a:extLst>
          </p:cNvPr>
          <p:cNvSpPr/>
          <p:nvPr/>
        </p:nvSpPr>
        <p:spPr>
          <a:xfrm>
            <a:off x="412114" y="296862"/>
            <a:ext cx="1416495" cy="44183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/>
              <a:t>Create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E2E1AA-4387-3A8E-638C-9E519363EE38}"/>
              </a:ext>
            </a:extLst>
          </p:cNvPr>
          <p:cNvSpPr txBox="1"/>
          <p:nvPr/>
        </p:nvSpPr>
        <p:spPr>
          <a:xfrm>
            <a:off x="6802065" y="310029"/>
            <a:ext cx="934829" cy="41549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Solo </a:t>
            </a:r>
            <a:r>
              <a:rPr lang="en-US" sz="1050" dirty="0" err="1"/>
              <a:t>crea</a:t>
            </a:r>
            <a:r>
              <a:rPr lang="en-US" sz="1050" dirty="0"/>
              <a:t> la </a:t>
            </a:r>
            <a:r>
              <a:rPr lang="en-US" sz="1050" dirty="0" err="1"/>
              <a:t>orden</a:t>
            </a:r>
            <a:endParaRPr lang="en-US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3228-0D77-8208-5DF9-2DAED32771D8}"/>
              </a:ext>
            </a:extLst>
          </p:cNvPr>
          <p:cNvSpPr txBox="1"/>
          <p:nvPr/>
        </p:nvSpPr>
        <p:spPr>
          <a:xfrm>
            <a:off x="8360960" y="628450"/>
            <a:ext cx="1240240" cy="57708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Crea</a:t>
            </a:r>
            <a:r>
              <a:rPr lang="en-US" sz="1050" dirty="0"/>
              <a:t> y </a:t>
            </a:r>
            <a:r>
              <a:rPr lang="en-US" sz="1050" dirty="0" err="1"/>
              <a:t>envia</a:t>
            </a:r>
            <a:r>
              <a:rPr lang="en-US" sz="1050" dirty="0"/>
              <a:t> </a:t>
            </a:r>
            <a:r>
              <a:rPr lang="en-US" sz="1050" dirty="0" err="1"/>
              <a:t>orden</a:t>
            </a:r>
            <a:r>
              <a:rPr lang="en-US" sz="1050" dirty="0"/>
              <a:t> al Driver </a:t>
            </a:r>
            <a:r>
              <a:rPr lang="en-US" sz="1050" dirty="0" err="1"/>
              <a:t>asignado</a:t>
            </a:r>
            <a:endParaRPr lang="en-US" sz="1050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A8D68185-650F-D935-C706-06047C8327B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06956" y="1000050"/>
            <a:ext cx="723880" cy="2011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EF3C3F0-D7AE-4AA0-746C-05BFCF208051}"/>
              </a:ext>
            </a:extLst>
          </p:cNvPr>
          <p:cNvCxnSpPr>
            <a:cxnSpLocks/>
            <a:endCxn id="4" idx="1"/>
          </p:cNvCxnSpPr>
          <p:nvPr/>
        </p:nvCxnSpPr>
        <p:spPr>
          <a:xfrm rot="5400000" flipH="1" flipV="1">
            <a:off x="7953908" y="1055523"/>
            <a:ext cx="545584" cy="2685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1FFA274-F1CA-2CDA-965A-2EE89DCC5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62" y="1462574"/>
            <a:ext cx="10591162" cy="42447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416B47-624E-5C52-37EF-2205132EC8BF}"/>
              </a:ext>
            </a:extLst>
          </p:cNvPr>
          <p:cNvSpPr txBox="1"/>
          <p:nvPr/>
        </p:nvSpPr>
        <p:spPr>
          <a:xfrm>
            <a:off x="10304650" y="3722088"/>
            <a:ext cx="1222248" cy="900246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Que se marque </a:t>
            </a:r>
            <a:r>
              <a:rPr lang="en-US" sz="1050" dirty="0" err="1"/>
              <a:t>en</a:t>
            </a:r>
            <a:r>
              <a:rPr lang="en-US" sz="1050" dirty="0"/>
              <a:t> rojo </a:t>
            </a:r>
            <a:r>
              <a:rPr lang="en-US" sz="1050" dirty="0" err="1"/>
              <a:t>el</a:t>
            </a:r>
            <a:r>
              <a:rPr lang="en-US" sz="1050" dirty="0"/>
              <a:t> SR. Sera </a:t>
            </a:r>
            <a:r>
              <a:rPr lang="en-US" sz="1050" dirty="0" err="1"/>
              <a:t>necesaria</a:t>
            </a:r>
            <a:r>
              <a:rPr lang="en-US" sz="1050" dirty="0"/>
              <a:t> la </a:t>
            </a:r>
            <a:r>
              <a:rPr lang="en-US" sz="1050" dirty="0" err="1"/>
              <a:t>aprobacion</a:t>
            </a:r>
            <a:r>
              <a:rPr lang="en-US" sz="1050" dirty="0"/>
              <a:t> para </a:t>
            </a:r>
            <a:r>
              <a:rPr lang="en-US" sz="1050" dirty="0" err="1"/>
              <a:t>envio</a:t>
            </a:r>
            <a:r>
              <a:rPr lang="en-US" sz="1050" dirty="0"/>
              <a:t> de factura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3793F9-5F52-1CA8-013F-CDE0B9D1CE3C}"/>
              </a:ext>
            </a:extLst>
          </p:cNvPr>
          <p:cNvSpPr txBox="1"/>
          <p:nvPr/>
        </p:nvSpPr>
        <p:spPr>
          <a:xfrm>
            <a:off x="5587743" y="628450"/>
            <a:ext cx="934829" cy="73866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Voyage </a:t>
            </a:r>
            <a:r>
              <a:rPr lang="en-US" sz="1050" dirty="0" err="1"/>
              <a:t>puede</a:t>
            </a:r>
            <a:r>
              <a:rPr lang="en-US" sz="1050" dirty="0"/>
              <a:t> </a:t>
            </a:r>
            <a:r>
              <a:rPr lang="en-US" sz="1050" dirty="0" err="1"/>
              <a:t>quedar</a:t>
            </a:r>
            <a:r>
              <a:rPr lang="en-US" sz="1050" dirty="0"/>
              <a:t> </a:t>
            </a:r>
            <a:r>
              <a:rPr lang="en-US" sz="1050" dirty="0" err="1"/>
              <a:t>en</a:t>
            </a:r>
            <a:r>
              <a:rPr lang="en-US" sz="1050" dirty="0"/>
              <a:t> </a:t>
            </a:r>
            <a:r>
              <a:rPr lang="en-US" sz="1050" dirty="0" err="1"/>
              <a:t>blanco</a:t>
            </a:r>
            <a:r>
              <a:rPr lang="en-US" sz="1050" dirty="0"/>
              <a:t>.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C6282A8-41DD-67F1-4898-2AC711AC7B2A}"/>
              </a:ext>
            </a:extLst>
          </p:cNvPr>
          <p:cNvCxnSpPr>
            <a:cxnSpLocks/>
            <a:endCxn id="5" idx="2"/>
          </p:cNvCxnSpPr>
          <p:nvPr/>
        </p:nvCxnSpPr>
        <p:spPr>
          <a:xfrm rot="5400000" flipH="1" flipV="1">
            <a:off x="5317838" y="1836548"/>
            <a:ext cx="1206754" cy="267886"/>
          </a:xfrm>
          <a:prstGeom prst="bentConnector3">
            <a:avLst>
              <a:gd name="adj1" fmla="val 8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33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70C5D-5E97-34D0-2D7B-878BF2EF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346936-A6E9-F69A-7217-26A7D61D4C48}"/>
              </a:ext>
            </a:extLst>
          </p:cNvPr>
          <p:cNvGraphicFramePr>
            <a:graphicFrameLocks noGrp="1"/>
          </p:cNvGraphicFramePr>
          <p:nvPr/>
        </p:nvGraphicFramePr>
        <p:xfrm>
          <a:off x="443670" y="2673092"/>
          <a:ext cx="10291385" cy="2879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0344">
                  <a:extLst>
                    <a:ext uri="{9D8B030D-6E8A-4147-A177-3AD203B41FA5}">
                      <a16:colId xmlns:a16="http://schemas.microsoft.com/office/drawing/2014/main" val="404740467"/>
                    </a:ext>
                  </a:extLst>
                </a:gridCol>
                <a:gridCol w="1130344">
                  <a:extLst>
                    <a:ext uri="{9D8B030D-6E8A-4147-A177-3AD203B41FA5}">
                      <a16:colId xmlns:a16="http://schemas.microsoft.com/office/drawing/2014/main" val="3331819250"/>
                    </a:ext>
                  </a:extLst>
                </a:gridCol>
                <a:gridCol w="1821136">
                  <a:extLst>
                    <a:ext uri="{9D8B030D-6E8A-4147-A177-3AD203B41FA5}">
                      <a16:colId xmlns:a16="http://schemas.microsoft.com/office/drawing/2014/main" val="3416321211"/>
                    </a:ext>
                  </a:extLst>
                </a:gridCol>
                <a:gridCol w="1855446">
                  <a:extLst>
                    <a:ext uri="{9D8B030D-6E8A-4147-A177-3AD203B41FA5}">
                      <a16:colId xmlns:a16="http://schemas.microsoft.com/office/drawing/2014/main" val="2935886025"/>
                    </a:ext>
                  </a:extLst>
                </a:gridCol>
                <a:gridCol w="1449856">
                  <a:extLst>
                    <a:ext uri="{9D8B030D-6E8A-4147-A177-3AD203B41FA5}">
                      <a16:colId xmlns:a16="http://schemas.microsoft.com/office/drawing/2014/main" val="3354031006"/>
                    </a:ext>
                  </a:extLst>
                </a:gridCol>
                <a:gridCol w="749201">
                  <a:extLst>
                    <a:ext uri="{9D8B030D-6E8A-4147-A177-3AD203B41FA5}">
                      <a16:colId xmlns:a16="http://schemas.microsoft.com/office/drawing/2014/main" val="1754964804"/>
                    </a:ext>
                  </a:extLst>
                </a:gridCol>
                <a:gridCol w="871178">
                  <a:extLst>
                    <a:ext uri="{9D8B030D-6E8A-4147-A177-3AD203B41FA5}">
                      <a16:colId xmlns:a16="http://schemas.microsoft.com/office/drawing/2014/main" val="406981915"/>
                    </a:ext>
                  </a:extLst>
                </a:gridCol>
                <a:gridCol w="598081">
                  <a:extLst>
                    <a:ext uri="{9D8B030D-6E8A-4147-A177-3AD203B41FA5}">
                      <a16:colId xmlns:a16="http://schemas.microsoft.com/office/drawing/2014/main" val="2652738093"/>
                    </a:ext>
                  </a:extLst>
                </a:gridCol>
                <a:gridCol w="685799">
                  <a:extLst>
                    <a:ext uri="{9D8B030D-6E8A-4147-A177-3AD203B41FA5}">
                      <a16:colId xmlns:a16="http://schemas.microsoft.com/office/drawing/2014/main" val="2866717410"/>
                    </a:ext>
                  </a:extLst>
                </a:gridCol>
              </a:tblGrid>
              <a:tr h="4100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 ID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Pickup date / time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PICK UP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DROP OFF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VESSEL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VOY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Move Type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Waiting Time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Rate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446939"/>
                  </a:ext>
                </a:extLst>
              </a:tr>
              <a:tr h="4100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BP#001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1-Jul-24 / 19:00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HOTEL MARRIOTT AC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PSA PORT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MSC LUDOVICA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FR423W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57688"/>
                  </a:ext>
                </a:extLst>
              </a:tr>
              <a:tr h="4100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BP#001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1-Jul-24 / 15:00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HOTEL MARRIOTT AC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PSA PORT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MSC LUDOVICA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FR423W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241714"/>
                  </a:ext>
                </a:extLst>
              </a:tr>
              <a:tr h="4100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BP#002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1-Jul-24 / 15:00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HOTEL MARRIOTT FINISTERRE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PSA PORT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MSC LUDOVICA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FR423W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77104"/>
                  </a:ext>
                </a:extLst>
              </a:tr>
              <a:tr h="4100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BP#003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1-Jul-24 / 15:00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PSA PORT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HOTEL MARRIOTT FINISTERRE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MSC LUDOVICA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FR423W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338108"/>
                  </a:ext>
                </a:extLst>
              </a:tr>
              <a:tr h="4100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BP#003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1-Jul-24 / 15:00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PSA PORT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HOTEL MARRIOTT FINISTERRE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MSC LUDOVICA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FR423W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360215"/>
                  </a:ext>
                </a:extLst>
              </a:tr>
              <a:tr h="4100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BP#003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Pickup date / time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PSA PORT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HOTEL MARRIOTT FINISTERRE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MSC LUDOVICA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FR423W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8960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509A06-854A-7A6F-028B-2F2D56C7A31A}"/>
              </a:ext>
            </a:extLst>
          </p:cNvPr>
          <p:cNvSpPr txBox="1"/>
          <p:nvPr/>
        </p:nvSpPr>
        <p:spPr>
          <a:xfrm>
            <a:off x="343086" y="312696"/>
            <a:ext cx="6096000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schemeClr val="bg1"/>
                </a:solidFill>
              </a:rPr>
              <a:t>Invocing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3DE79B-22D1-5F8B-29B6-98288E5FA6EE}"/>
              </a:ext>
            </a:extLst>
          </p:cNvPr>
          <p:cNvSpPr txBox="1"/>
          <p:nvPr/>
        </p:nvSpPr>
        <p:spPr>
          <a:xfrm>
            <a:off x="343086" y="1152144"/>
            <a:ext cx="72669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En </a:t>
            </a:r>
            <a:r>
              <a:rPr lang="en-US" dirty="0" err="1">
                <a:highlight>
                  <a:srgbClr val="FFFF00"/>
                </a:highlight>
              </a:rPr>
              <a:t>esta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pantalla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saldran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todos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los</a:t>
            </a:r>
            <a:r>
              <a:rPr lang="en-US" dirty="0">
                <a:highlight>
                  <a:srgbClr val="FFFF00"/>
                </a:highlight>
              </a:rPr>
              <a:t> SR </a:t>
            </a:r>
            <a:r>
              <a:rPr lang="en-US" dirty="0" err="1">
                <a:highlight>
                  <a:srgbClr val="FFFF00"/>
                </a:highlight>
              </a:rPr>
              <a:t>completados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  <a:p>
            <a:r>
              <a:rPr lang="en-US" dirty="0" err="1">
                <a:highlight>
                  <a:srgbClr val="FFFF00"/>
                </a:highlight>
              </a:rPr>
              <a:t>Seleccionar</a:t>
            </a:r>
            <a:r>
              <a:rPr lang="en-US" dirty="0">
                <a:highlight>
                  <a:srgbClr val="FFFF00"/>
                </a:highlight>
              </a:rPr>
              <a:t> GENERAR INVOICE para </a:t>
            </a:r>
            <a:r>
              <a:rPr lang="en-US" dirty="0" err="1">
                <a:highlight>
                  <a:srgbClr val="FFFF00"/>
                </a:highlight>
              </a:rPr>
              <a:t>generar</a:t>
            </a:r>
            <a:r>
              <a:rPr lang="en-US" dirty="0">
                <a:highlight>
                  <a:srgbClr val="FFFF00"/>
                </a:highlight>
              </a:rPr>
              <a:t> la factura </a:t>
            </a:r>
            <a:r>
              <a:rPr lang="en-US" dirty="0" err="1">
                <a:highlight>
                  <a:srgbClr val="FFFF00"/>
                </a:highlight>
              </a:rPr>
              <a:t>en</a:t>
            </a:r>
            <a:r>
              <a:rPr lang="en-US" dirty="0">
                <a:highlight>
                  <a:srgbClr val="FFFF00"/>
                </a:highlight>
              </a:rPr>
              <a:t> pdf </a:t>
            </a:r>
            <a:r>
              <a:rPr lang="en-US" dirty="0" err="1">
                <a:highlight>
                  <a:srgbClr val="FFFF00"/>
                </a:highlight>
              </a:rPr>
              <a:t>segun</a:t>
            </a:r>
            <a:r>
              <a:rPr lang="en-US" dirty="0">
                <a:highlight>
                  <a:srgbClr val="FFFF00"/>
                </a:highlight>
              </a:rPr>
              <a:t> :</a:t>
            </a:r>
          </a:p>
          <a:p>
            <a:pPr marL="342900" indent="-342900">
              <a:buAutoNum type="arabicParenR"/>
            </a:pPr>
            <a:r>
              <a:rPr lang="en-US" dirty="0">
                <a:highlight>
                  <a:srgbClr val="FFFF00"/>
                </a:highlight>
              </a:rPr>
              <a:t>SR</a:t>
            </a:r>
          </a:p>
          <a:p>
            <a:pPr marL="342900" indent="-342900">
              <a:buAutoNum type="arabicParenR"/>
            </a:pPr>
            <a:r>
              <a:rPr lang="en-US" dirty="0">
                <a:highlight>
                  <a:srgbClr val="FFFF00"/>
                </a:highlight>
              </a:rPr>
              <a:t>Vessel/voyage</a:t>
            </a:r>
          </a:p>
          <a:p>
            <a:pPr marL="342900" indent="-342900">
              <a:buAutoNum type="arabicParenR"/>
            </a:pPr>
            <a:r>
              <a:rPr lang="en-US" dirty="0">
                <a:highlight>
                  <a:srgbClr val="FFFF00"/>
                </a:highlight>
              </a:rPr>
              <a:t>RT o Single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4DE72C-AFCD-7CC9-948B-EEC71E4A8B7E}"/>
              </a:ext>
            </a:extLst>
          </p:cNvPr>
          <p:cNvSpPr/>
          <p:nvPr/>
        </p:nvSpPr>
        <p:spPr>
          <a:xfrm>
            <a:off x="9345167" y="1953689"/>
            <a:ext cx="1389888" cy="51173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/>
              <a:t>Generate Invoice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238A46-F15B-4062-E960-E7F70F9F096A}"/>
              </a:ext>
            </a:extLst>
          </p:cNvPr>
          <p:cNvSpPr txBox="1"/>
          <p:nvPr/>
        </p:nvSpPr>
        <p:spPr>
          <a:xfrm>
            <a:off x="443670" y="5705856"/>
            <a:ext cx="105380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Una </a:t>
            </a:r>
            <a:r>
              <a:rPr lang="en-US" dirty="0" err="1">
                <a:highlight>
                  <a:srgbClr val="FFFF00"/>
                </a:highlight>
              </a:rPr>
              <a:t>vez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generadas</a:t>
            </a:r>
            <a:r>
              <a:rPr lang="en-US" dirty="0">
                <a:highlight>
                  <a:srgbClr val="FFFF00"/>
                </a:highlight>
              </a:rPr>
              <a:t> las facturas,  </a:t>
            </a:r>
            <a:r>
              <a:rPr lang="en-US" dirty="0" err="1">
                <a:highlight>
                  <a:srgbClr val="FFFF00"/>
                </a:highlight>
              </a:rPr>
              <a:t>todos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los</a:t>
            </a:r>
            <a:r>
              <a:rPr lang="en-US" dirty="0">
                <a:highlight>
                  <a:srgbClr val="FFFF00"/>
                </a:highlight>
              </a:rPr>
              <a:t> SR </a:t>
            </a:r>
            <a:r>
              <a:rPr lang="en-US" dirty="0" err="1">
                <a:highlight>
                  <a:srgbClr val="FFFF00"/>
                </a:highlight>
              </a:rPr>
              <a:t>cambian</a:t>
            </a:r>
            <a:r>
              <a:rPr lang="en-US" dirty="0">
                <a:highlight>
                  <a:srgbClr val="FFFF00"/>
                </a:highlight>
              </a:rPr>
              <a:t> a status INVOICED y </a:t>
            </a:r>
            <a:r>
              <a:rPr lang="en-US" dirty="0" err="1">
                <a:highlight>
                  <a:srgbClr val="FFFF00"/>
                </a:highlight>
              </a:rPr>
              <a:t>ya</a:t>
            </a:r>
            <a:r>
              <a:rPr lang="en-US" dirty="0">
                <a:highlight>
                  <a:srgbClr val="FFFF00"/>
                </a:highlight>
              </a:rPr>
              <a:t> no </a:t>
            </a:r>
            <a:r>
              <a:rPr lang="en-US" dirty="0" err="1">
                <a:highlight>
                  <a:srgbClr val="FFFF00"/>
                </a:highlight>
              </a:rPr>
              <a:t>salen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en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esta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pantalla</a:t>
            </a:r>
            <a:r>
              <a:rPr lang="en-US" dirty="0">
                <a:highlight>
                  <a:srgbClr val="FFFF00"/>
                </a:highlight>
              </a:rPr>
              <a:t>. </a:t>
            </a:r>
          </a:p>
          <a:p>
            <a:r>
              <a:rPr lang="en-US" dirty="0">
                <a:highlight>
                  <a:srgbClr val="FFFF00"/>
                </a:highlight>
              </a:rPr>
              <a:t>Se </a:t>
            </a:r>
            <a:r>
              <a:rPr lang="en-US" dirty="0" err="1">
                <a:highlight>
                  <a:srgbClr val="FFFF00"/>
                </a:highlight>
              </a:rPr>
              <a:t>debera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generar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una</a:t>
            </a:r>
            <a:r>
              <a:rPr lang="en-US" dirty="0">
                <a:highlight>
                  <a:srgbClr val="FFFF00"/>
                </a:highlight>
              </a:rPr>
              <a:t> factura </a:t>
            </a:r>
            <a:r>
              <a:rPr lang="en-US" dirty="0" err="1">
                <a:highlight>
                  <a:srgbClr val="FFFF00"/>
                </a:highlight>
              </a:rPr>
              <a:t>en</a:t>
            </a:r>
            <a:r>
              <a:rPr lang="en-US" dirty="0">
                <a:highlight>
                  <a:srgbClr val="FFFF00"/>
                </a:highlight>
              </a:rPr>
              <a:t> pdf de </a:t>
            </a:r>
            <a:r>
              <a:rPr lang="en-US" dirty="0" err="1">
                <a:highlight>
                  <a:srgbClr val="FFFF00"/>
                </a:highlight>
              </a:rPr>
              <a:t>cada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combinacion</a:t>
            </a:r>
            <a:r>
              <a:rPr lang="en-US" dirty="0">
                <a:highlight>
                  <a:srgbClr val="FFFF00"/>
                </a:highlight>
              </a:rPr>
              <a:t> SR </a:t>
            </a:r>
            <a:r>
              <a:rPr lang="en-US" dirty="0" err="1">
                <a:highlight>
                  <a:srgbClr val="FFFF00"/>
                </a:highlight>
              </a:rPr>
              <a:t>completados</a:t>
            </a:r>
            <a:r>
              <a:rPr lang="en-US" dirty="0">
                <a:highlight>
                  <a:srgbClr val="FFFF00"/>
                </a:highlight>
              </a:rPr>
              <a:t> y vessel/</a:t>
            </a:r>
            <a:r>
              <a:rPr lang="en-US" dirty="0" err="1">
                <a:highlight>
                  <a:srgbClr val="FFFF00"/>
                </a:highlight>
              </a:rPr>
              <a:t>voy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  <a:p>
            <a:r>
              <a:rPr lang="en-US" dirty="0">
                <a:highlight>
                  <a:srgbClr val="FFFF00"/>
                </a:highlight>
              </a:rPr>
              <a:t>Se require </a:t>
            </a:r>
            <a:r>
              <a:rPr lang="en-US" dirty="0" err="1">
                <a:highlight>
                  <a:srgbClr val="FFFF00"/>
                </a:highlight>
              </a:rPr>
              <a:t>conexion</a:t>
            </a:r>
            <a:r>
              <a:rPr lang="en-US" dirty="0">
                <a:highlight>
                  <a:srgbClr val="FFFF00"/>
                </a:highlight>
              </a:rPr>
              <a:t> a SAP.</a:t>
            </a:r>
          </a:p>
        </p:txBody>
      </p:sp>
    </p:spTree>
    <p:extLst>
      <p:ext uri="{BB962C8B-B14F-4D97-AF65-F5344CB8AC3E}">
        <p14:creationId xmlns:p14="http://schemas.microsoft.com/office/powerpoint/2010/main" val="998783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97166C3-AB84-4B68-75FD-6AB38C60747C}"/>
              </a:ext>
            </a:extLst>
          </p:cNvPr>
          <p:cNvGrpSpPr/>
          <p:nvPr/>
        </p:nvGrpSpPr>
        <p:grpSpPr>
          <a:xfrm>
            <a:off x="2794529" y="623506"/>
            <a:ext cx="5624047" cy="5894366"/>
            <a:chOff x="868429" y="167405"/>
            <a:chExt cx="5624047" cy="589436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08E9680-5A3E-506D-5FF5-9502A1D3D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2256" y="167405"/>
              <a:ext cx="5540220" cy="542591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CBCC191-FE98-F8B0-7032-2C8D4262F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8429" y="4636708"/>
              <a:ext cx="5624047" cy="142506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25B0A9A-51FF-CDD9-8248-4EE226B14FEB}"/>
              </a:ext>
            </a:extLst>
          </p:cNvPr>
          <p:cNvSpPr txBox="1"/>
          <p:nvPr/>
        </p:nvSpPr>
        <p:spPr>
          <a:xfrm>
            <a:off x="370518" y="81863"/>
            <a:ext cx="3625410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schemeClr val="bg1"/>
                </a:solidFill>
              </a:rPr>
              <a:t>Formato</a:t>
            </a:r>
            <a:r>
              <a:rPr lang="en-US" sz="2400" dirty="0">
                <a:solidFill>
                  <a:schemeClr val="bg1"/>
                </a:solidFill>
              </a:rPr>
              <a:t> de Factura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77858-22B4-39E9-F9D5-6F5318F0880E}"/>
              </a:ext>
            </a:extLst>
          </p:cNvPr>
          <p:cNvSpPr txBox="1"/>
          <p:nvPr/>
        </p:nvSpPr>
        <p:spPr>
          <a:xfrm>
            <a:off x="8484115" y="1656078"/>
            <a:ext cx="1414584" cy="46166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Fecha</a:t>
            </a:r>
            <a:r>
              <a:rPr lang="en-US" sz="1200" dirty="0"/>
              <a:t> de la factura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6066D-5D22-60C6-4650-D3C463318D3E}"/>
              </a:ext>
            </a:extLst>
          </p:cNvPr>
          <p:cNvSpPr txBox="1"/>
          <p:nvPr/>
        </p:nvSpPr>
        <p:spPr>
          <a:xfrm>
            <a:off x="8484115" y="884934"/>
            <a:ext cx="1414584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Numero</a:t>
            </a:r>
            <a:r>
              <a:rPr lang="en-US" sz="1200" dirty="0"/>
              <a:t> </a:t>
            </a:r>
            <a:r>
              <a:rPr lang="en-US" sz="1200" dirty="0" err="1"/>
              <a:t>secuencial</a:t>
            </a:r>
            <a:r>
              <a:rPr lang="en-US" sz="1200" dirty="0"/>
              <a:t> de la Service Request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6D043E-2990-1A8D-B492-55B1976292A3}"/>
              </a:ext>
            </a:extLst>
          </p:cNvPr>
          <p:cNvSpPr txBox="1"/>
          <p:nvPr/>
        </p:nvSpPr>
        <p:spPr>
          <a:xfrm>
            <a:off x="622335" y="2171837"/>
            <a:ext cx="1414584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Fecha</a:t>
            </a:r>
            <a:r>
              <a:rPr lang="en-US" sz="1200" dirty="0"/>
              <a:t> de </a:t>
            </a:r>
            <a:r>
              <a:rPr lang="en-US" sz="1200" dirty="0" err="1"/>
              <a:t>Completado</a:t>
            </a:r>
            <a:r>
              <a:rPr lang="en-US" sz="1200" dirty="0"/>
              <a:t> del Service Order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2ED22B-83AC-88B3-C656-BEB6AE9D1721}"/>
              </a:ext>
            </a:extLst>
          </p:cNvPr>
          <p:cNvSpPr txBox="1"/>
          <p:nvPr/>
        </p:nvSpPr>
        <p:spPr>
          <a:xfrm>
            <a:off x="630817" y="3013295"/>
            <a:ext cx="1414584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Location del PICKUP y location del DROPOFF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CA14C2-8049-75D9-1C4C-DFA1CD26B84C}"/>
              </a:ext>
            </a:extLst>
          </p:cNvPr>
          <p:cNvSpPr txBox="1"/>
          <p:nvPr/>
        </p:nvSpPr>
        <p:spPr>
          <a:xfrm>
            <a:off x="659442" y="5432010"/>
            <a:ext cx="1414584" cy="46166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Vessel Voyage del Service Order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D8B626-B0D8-0E09-411F-B656E8D5E5A4}"/>
              </a:ext>
            </a:extLst>
          </p:cNvPr>
          <p:cNvSpPr txBox="1"/>
          <p:nvPr/>
        </p:nvSpPr>
        <p:spPr>
          <a:xfrm>
            <a:off x="630817" y="3854753"/>
            <a:ext cx="1414584" cy="27699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Nombre</a:t>
            </a:r>
            <a:r>
              <a:rPr lang="en-US" sz="1200" dirty="0"/>
              <a:t> del Crew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DD0D43-D847-8156-3906-EBE67B64B930}"/>
              </a:ext>
            </a:extLst>
          </p:cNvPr>
          <p:cNvSpPr txBox="1"/>
          <p:nvPr/>
        </p:nvSpPr>
        <p:spPr>
          <a:xfrm>
            <a:off x="630817" y="4251350"/>
            <a:ext cx="1414584" cy="27699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Codigo</a:t>
            </a:r>
            <a:r>
              <a:rPr lang="en-US" sz="1200" dirty="0"/>
              <a:t> de Taulia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6018D7-1D55-4471-080A-9E27810E5ADD}"/>
              </a:ext>
            </a:extLst>
          </p:cNvPr>
          <p:cNvSpPr txBox="1"/>
          <p:nvPr/>
        </p:nvSpPr>
        <p:spPr>
          <a:xfrm>
            <a:off x="8527482" y="2967335"/>
            <a:ext cx="1414584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Tarifa del </a:t>
            </a:r>
            <a:r>
              <a:rPr lang="en-US" sz="1200" dirty="0" err="1"/>
              <a:t>movimiento</a:t>
            </a:r>
            <a:r>
              <a:rPr lang="en-US" sz="1200" dirty="0"/>
              <a:t> (</a:t>
            </a:r>
            <a:r>
              <a:rPr lang="en-US" sz="1200" dirty="0" err="1"/>
              <a:t>Catalogo</a:t>
            </a:r>
            <a:r>
              <a:rPr lang="en-US" sz="1200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538455-5262-F93F-D0FB-32D1F148E2DF}"/>
              </a:ext>
            </a:extLst>
          </p:cNvPr>
          <p:cNvSpPr txBox="1"/>
          <p:nvPr/>
        </p:nvSpPr>
        <p:spPr>
          <a:xfrm>
            <a:off x="8690179" y="5432010"/>
            <a:ext cx="1414584" cy="46166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Suma del total </a:t>
            </a:r>
            <a:r>
              <a:rPr lang="en-US" sz="1200" dirty="0" err="1"/>
              <a:t>segun</a:t>
            </a:r>
            <a:r>
              <a:rPr lang="en-US" sz="1200" dirty="0"/>
              <a:t> </a:t>
            </a:r>
            <a:r>
              <a:rPr lang="en-US" sz="1200" dirty="0" err="1"/>
              <a:t>tarifa</a:t>
            </a:r>
            <a:endParaRPr lang="en-US" sz="12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51B1EA-C42D-13A9-692C-0F6D1E8DC069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036919" y="2495003"/>
            <a:ext cx="906976" cy="623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82614A5-A3D1-6993-68B6-B7662C2A3632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045401" y="3198082"/>
            <a:ext cx="1411031" cy="138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E9B157-E785-412C-13B3-6DB207DE0280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2045401" y="3336460"/>
            <a:ext cx="1566479" cy="656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F15DD2-5E4E-2F20-16B1-07C6D0F829E6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045401" y="3198082"/>
            <a:ext cx="3559871" cy="1191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3458012-06D6-40B5-4AD3-15D483768FD7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2074026" y="4619034"/>
            <a:ext cx="1382406" cy="10438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1DBAF10-6B09-F9CA-09AE-85981736ECFC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8302752" y="5552668"/>
            <a:ext cx="387427" cy="110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29C56A5-B0B9-7276-23DE-45D9076B0C76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8302752" y="3118104"/>
            <a:ext cx="224730" cy="172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62CE9AA-8889-DF7E-EAF2-170E984E5C82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8220456" y="1812221"/>
            <a:ext cx="263659" cy="74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9C7BC87-7A86-4063-D6DA-1DCE648464C4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8220456" y="1208100"/>
            <a:ext cx="263659" cy="217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B52CE57-2C70-F854-26FB-19FE863E83A8}"/>
              </a:ext>
            </a:extLst>
          </p:cNvPr>
          <p:cNvSpPr txBox="1"/>
          <p:nvPr/>
        </p:nvSpPr>
        <p:spPr>
          <a:xfrm>
            <a:off x="622335" y="1383336"/>
            <a:ext cx="1414584" cy="27699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Datos del </a:t>
            </a:r>
            <a:r>
              <a:rPr lang="en-US" sz="1200" dirty="0" err="1"/>
              <a:t>Cliente</a:t>
            </a:r>
            <a:endParaRPr lang="en-US" sz="1200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E234AAD-7525-6035-BED3-53BF2AF74FFA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2036919" y="1521836"/>
            <a:ext cx="906976" cy="973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D8584C1-713E-D339-0E6A-4EAE769CC26D}"/>
              </a:ext>
            </a:extLst>
          </p:cNvPr>
          <p:cNvSpPr txBox="1"/>
          <p:nvPr/>
        </p:nvSpPr>
        <p:spPr>
          <a:xfrm>
            <a:off x="10430967" y="3004538"/>
            <a:ext cx="1414584" cy="27699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En </a:t>
            </a:r>
            <a:r>
              <a:rPr lang="en-US" sz="1200" dirty="0" err="1"/>
              <a:t>formato</a:t>
            </a:r>
            <a:r>
              <a:rPr lang="en-US" sz="1200" dirty="0"/>
              <a:t> pdf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B52EE33-467D-1DE9-A721-63ED0D812667}"/>
              </a:ext>
            </a:extLst>
          </p:cNvPr>
          <p:cNvSpPr/>
          <p:nvPr/>
        </p:nvSpPr>
        <p:spPr>
          <a:xfrm>
            <a:off x="10429056" y="2171837"/>
            <a:ext cx="1416495" cy="44183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/>
              <a:t>Download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521F925-9D82-7DE1-C79E-D1FBD5DB6BE3}"/>
              </a:ext>
            </a:extLst>
          </p:cNvPr>
          <p:cNvCxnSpPr>
            <a:cxnSpLocks/>
          </p:cNvCxnSpPr>
          <p:nvPr/>
        </p:nvCxnSpPr>
        <p:spPr>
          <a:xfrm>
            <a:off x="10213669" y="312695"/>
            <a:ext cx="0" cy="5905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3159CCC-CC7F-C0CD-4CAE-EAE36335FF44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11137303" y="2700530"/>
            <a:ext cx="956" cy="304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1DCE8F-220E-19D6-E6B6-38E68F93278D}"/>
              </a:ext>
            </a:extLst>
          </p:cNvPr>
          <p:cNvSpPr txBox="1"/>
          <p:nvPr/>
        </p:nvSpPr>
        <p:spPr>
          <a:xfrm>
            <a:off x="620177" y="4648590"/>
            <a:ext cx="1414584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Waiting Time (no se indica la </a:t>
            </a:r>
            <a:r>
              <a:rPr lang="en-US" sz="1200" dirty="0" err="1"/>
              <a:t>cantidad</a:t>
            </a:r>
            <a:r>
              <a:rPr lang="en-US" sz="1200" dirty="0"/>
              <a:t> de horas)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1CC6B30-9EFD-66E5-FD23-A815D01B648E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2034761" y="4124162"/>
            <a:ext cx="1460936" cy="847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C23EF9B-4DCC-9918-22EE-9927FF87997C}"/>
              </a:ext>
            </a:extLst>
          </p:cNvPr>
          <p:cNvSpPr txBox="1"/>
          <p:nvPr/>
        </p:nvSpPr>
        <p:spPr>
          <a:xfrm>
            <a:off x="3387045" y="3900862"/>
            <a:ext cx="9124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Waiting time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5C8147-3A67-A102-6500-42E174462EE2}"/>
              </a:ext>
            </a:extLst>
          </p:cNvPr>
          <p:cNvSpPr txBox="1"/>
          <p:nvPr/>
        </p:nvSpPr>
        <p:spPr>
          <a:xfrm>
            <a:off x="7615803" y="3893168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$ xx.00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91670E-4742-5BEF-6C88-29529B303A1F}"/>
              </a:ext>
            </a:extLst>
          </p:cNvPr>
          <p:cNvCxnSpPr>
            <a:cxnSpLocks/>
          </p:cNvCxnSpPr>
          <p:nvPr/>
        </p:nvCxnSpPr>
        <p:spPr>
          <a:xfrm>
            <a:off x="4425696" y="4027820"/>
            <a:ext cx="30797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300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5F85-A20B-BAD7-D726-D1494865B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Catalogo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5BAE3-A567-521E-3CD7-DEB71A5C8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33568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Customer</a:t>
            </a:r>
          </a:p>
          <a:p>
            <a:r>
              <a:rPr lang="en-US" dirty="0"/>
              <a:t>Nationality</a:t>
            </a:r>
          </a:p>
          <a:p>
            <a:r>
              <a:rPr lang="en-US" dirty="0"/>
              <a:t>Location</a:t>
            </a:r>
          </a:p>
          <a:p>
            <a:r>
              <a:rPr lang="en-US" dirty="0"/>
              <a:t>Site Type</a:t>
            </a:r>
          </a:p>
          <a:p>
            <a:r>
              <a:rPr lang="en-US" dirty="0"/>
              <a:t>Leg</a:t>
            </a:r>
          </a:p>
          <a:p>
            <a:r>
              <a:rPr lang="en-US" dirty="0"/>
              <a:t>Taulia Code</a:t>
            </a:r>
          </a:p>
          <a:p>
            <a:r>
              <a:rPr lang="en-US" dirty="0"/>
              <a:t>Vessel (del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catalogo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)</a:t>
            </a:r>
          </a:p>
          <a:p>
            <a:r>
              <a:rPr lang="en-US" dirty="0"/>
              <a:t>Transport Co.</a:t>
            </a:r>
          </a:p>
          <a:p>
            <a:r>
              <a:rPr lang="en-US" dirty="0"/>
              <a:t>Driver Name</a:t>
            </a:r>
          </a:p>
          <a:p>
            <a:r>
              <a:rPr lang="en-US" dirty="0"/>
              <a:t>MSC Status</a:t>
            </a:r>
          </a:p>
          <a:p>
            <a:r>
              <a:rPr lang="en-US" dirty="0"/>
              <a:t>Crew Rank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C75C25-D6DD-71DA-0726-EB068872160E}"/>
              </a:ext>
            </a:extLst>
          </p:cNvPr>
          <p:cNvSpPr txBox="1">
            <a:spLocks/>
          </p:cNvSpPr>
          <p:nvPr/>
        </p:nvSpPr>
        <p:spPr>
          <a:xfrm>
            <a:off x="6840793" y="1827366"/>
            <a:ext cx="4333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Move Type: Single o RT</a:t>
            </a:r>
          </a:p>
          <a:p>
            <a:r>
              <a:rPr lang="en-US" sz="2000" dirty="0"/>
              <a:t>Customer : Name, Code, RUC, Address y </a:t>
            </a:r>
            <a:r>
              <a:rPr lang="en-US" sz="2000" dirty="0" err="1"/>
              <a:t>Telefono</a:t>
            </a:r>
            <a:endParaRPr lang="en-US" sz="2000" dirty="0"/>
          </a:p>
          <a:p>
            <a:r>
              <a:rPr lang="en-US" sz="2000" dirty="0"/>
              <a:t>Tarifa : </a:t>
            </a:r>
            <a:r>
              <a:rPr lang="en-US" sz="2000" dirty="0" err="1"/>
              <a:t>codigo</a:t>
            </a:r>
            <a:r>
              <a:rPr lang="en-US" sz="2000" dirty="0"/>
              <a:t>, route, </a:t>
            </a:r>
            <a:r>
              <a:rPr lang="en-US" sz="2000" dirty="0" err="1"/>
              <a:t>monto</a:t>
            </a:r>
            <a:r>
              <a:rPr lang="en-US" sz="2000" dirty="0"/>
              <a:t> (</a:t>
            </a:r>
            <a:r>
              <a:rPr lang="en-US" sz="2000" dirty="0" err="1"/>
              <a:t>cambio</a:t>
            </a:r>
            <a:r>
              <a:rPr lang="en-US" sz="2000" dirty="0"/>
              <a:t> de </a:t>
            </a:r>
            <a:r>
              <a:rPr lang="en-US" sz="2000" dirty="0" err="1"/>
              <a:t>tarifa</a:t>
            </a:r>
            <a:r>
              <a:rPr lang="en-US" sz="2000" dirty="0"/>
              <a:t> </a:t>
            </a:r>
            <a:r>
              <a:rPr lang="en-US" sz="2000" dirty="0" err="1"/>
              <a:t>debe</a:t>
            </a:r>
            <a:r>
              <a:rPr lang="en-US" sz="2000" dirty="0"/>
              <a:t> </a:t>
            </a:r>
            <a:r>
              <a:rPr lang="en-US" sz="2000" dirty="0" err="1"/>
              <a:t>aplicar</a:t>
            </a:r>
            <a:r>
              <a:rPr lang="en-US" sz="2000" dirty="0"/>
              <a:t> solo a </a:t>
            </a:r>
            <a:r>
              <a:rPr lang="en-US" sz="2000" dirty="0" err="1"/>
              <a:t>nuevos</a:t>
            </a:r>
            <a:r>
              <a:rPr lang="en-US" sz="2000" dirty="0"/>
              <a:t> request).</a:t>
            </a:r>
          </a:p>
          <a:p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29650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F8B97-F9D6-B552-6E24-5A91B7F0D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50DE32-F471-CB73-5D76-17687F7A7491}"/>
              </a:ext>
            </a:extLst>
          </p:cNvPr>
          <p:cNvSpPr txBox="1"/>
          <p:nvPr/>
        </p:nvSpPr>
        <p:spPr>
          <a:xfrm>
            <a:off x="7603544" y="2753849"/>
            <a:ext cx="1901952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reporte</a:t>
            </a:r>
            <a:r>
              <a:rPr lang="en-US" dirty="0"/>
              <a:t> de Tulia </a:t>
            </a:r>
            <a:r>
              <a:rPr lang="en-US" dirty="0" err="1"/>
              <a:t>en</a:t>
            </a:r>
            <a:r>
              <a:rPr lang="en-US" dirty="0"/>
              <a:t> excel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1DD842-D743-102D-FE21-1E4B517DFA64}"/>
              </a:ext>
            </a:extLst>
          </p:cNvPr>
          <p:cNvSpPr txBox="1"/>
          <p:nvPr/>
        </p:nvSpPr>
        <p:spPr>
          <a:xfrm>
            <a:off x="7603543" y="3743213"/>
            <a:ext cx="1901952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Generar</a:t>
            </a:r>
            <a:r>
              <a:rPr lang="en-US" dirty="0"/>
              <a:t> factura proforma (</a:t>
            </a:r>
            <a:r>
              <a:rPr lang="en-US" dirty="0" err="1"/>
              <a:t>fisica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pdf) con sus </a:t>
            </a:r>
            <a:r>
              <a:rPr lang="en-US" dirty="0" err="1"/>
              <a:t>respectivos</a:t>
            </a:r>
            <a:r>
              <a:rPr lang="en-US" dirty="0"/>
              <a:t> </a:t>
            </a:r>
            <a:r>
              <a:rPr lang="en-US" dirty="0" err="1"/>
              <a:t>adjuntos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F60A38-5BC7-5294-2BD9-D1C8D1F65DA1}"/>
              </a:ext>
            </a:extLst>
          </p:cNvPr>
          <p:cNvSpPr txBox="1"/>
          <p:nvPr/>
        </p:nvSpPr>
        <p:spPr>
          <a:xfrm>
            <a:off x="5194508" y="2591446"/>
            <a:ext cx="178072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Import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15C81-9132-380C-8EE1-C59410BDE97E}"/>
              </a:ext>
            </a:extLst>
          </p:cNvPr>
          <p:cNvSpPr txBox="1"/>
          <p:nvPr/>
        </p:nvSpPr>
        <p:spPr>
          <a:xfrm>
            <a:off x="7603543" y="5441960"/>
            <a:ext cx="190195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Envia XML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642E90-5ACF-2A87-C029-AA5954E4F87E}"/>
              </a:ext>
            </a:extLst>
          </p:cNvPr>
          <p:cNvSpPr txBox="1"/>
          <p:nvPr/>
        </p:nvSpPr>
        <p:spPr>
          <a:xfrm>
            <a:off x="5026192" y="1932266"/>
            <a:ext cx="468352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INVOICINIG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A2088F6-D175-4DDD-9507-A6E4534DF09C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045255" y="4481877"/>
            <a:ext cx="558288" cy="14542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9C55693-0AC5-04CE-A2BD-5A3117121B7B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7045255" y="3077015"/>
            <a:ext cx="558289" cy="28591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4B2866B-8772-CF61-5C10-3FF14175633B}"/>
              </a:ext>
            </a:extLst>
          </p:cNvPr>
          <p:cNvSpPr txBox="1"/>
          <p:nvPr/>
        </p:nvSpPr>
        <p:spPr>
          <a:xfrm>
            <a:off x="2334021" y="1953252"/>
            <a:ext cx="209900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7E06D82-85C9-1A61-B5A8-6C4298EBDE18}"/>
              </a:ext>
            </a:extLst>
          </p:cNvPr>
          <p:cNvCxnSpPr>
            <a:cxnSpLocks/>
          </p:cNvCxnSpPr>
          <p:nvPr/>
        </p:nvCxnSpPr>
        <p:spPr>
          <a:xfrm>
            <a:off x="4850380" y="1909514"/>
            <a:ext cx="0" cy="47865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45FA49D-7FB7-AF9A-93CF-3113E8875259}"/>
              </a:ext>
            </a:extLst>
          </p:cNvPr>
          <p:cNvSpPr txBox="1"/>
          <p:nvPr/>
        </p:nvSpPr>
        <p:spPr>
          <a:xfrm>
            <a:off x="10062191" y="1932266"/>
            <a:ext cx="1851834" cy="36933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SAP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F2B091-05CD-E0FA-25B4-1D45CADE701D}"/>
              </a:ext>
            </a:extLst>
          </p:cNvPr>
          <p:cNvSpPr txBox="1"/>
          <p:nvPr/>
        </p:nvSpPr>
        <p:spPr>
          <a:xfrm>
            <a:off x="10062191" y="2753849"/>
            <a:ext cx="179501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Cargar</a:t>
            </a:r>
            <a:r>
              <a:rPr lang="en-US" dirty="0"/>
              <a:t> XML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751FF9-BFA3-7931-EB28-946E1FBAE664}"/>
              </a:ext>
            </a:extLst>
          </p:cNvPr>
          <p:cNvSpPr txBox="1"/>
          <p:nvPr/>
        </p:nvSpPr>
        <p:spPr>
          <a:xfrm>
            <a:off x="10062191" y="3771225"/>
            <a:ext cx="1795019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corregir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B11A9A-D748-D302-D6BA-2CA7F257DD3F}"/>
              </a:ext>
            </a:extLst>
          </p:cNvPr>
          <p:cNvSpPr txBox="1"/>
          <p:nvPr/>
        </p:nvSpPr>
        <p:spPr>
          <a:xfrm>
            <a:off x="10062191" y="4992178"/>
            <a:ext cx="179501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Transmitir</a:t>
            </a:r>
            <a:r>
              <a:rPr lang="en-US" dirty="0"/>
              <a:t> a SAP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1A409D9-20D0-3969-D494-4E2DAB84E9DE}"/>
              </a:ext>
            </a:extLst>
          </p:cNvPr>
          <p:cNvCxnSpPr>
            <a:cxnSpLocks/>
          </p:cNvCxnSpPr>
          <p:nvPr/>
        </p:nvCxnSpPr>
        <p:spPr>
          <a:xfrm>
            <a:off x="9885951" y="1932266"/>
            <a:ext cx="0" cy="4869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F3A9CD1-7A9C-E258-00DC-371C8C74B412}"/>
              </a:ext>
            </a:extLst>
          </p:cNvPr>
          <p:cNvSpPr txBox="1"/>
          <p:nvPr/>
        </p:nvSpPr>
        <p:spPr>
          <a:xfrm>
            <a:off x="7569849" y="6134312"/>
            <a:ext cx="1901952" cy="36933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Generar</a:t>
            </a:r>
            <a:r>
              <a:rPr lang="en-US" dirty="0">
                <a:solidFill>
                  <a:schemeClr val="bg1"/>
                </a:solidFill>
              </a:rPr>
              <a:t> a HKA</a:t>
            </a:r>
          </a:p>
        </p:txBody>
      </p:sp>
      <p:sp>
        <p:nvSpPr>
          <p:cNvPr id="67" name="Title 66">
            <a:extLst>
              <a:ext uri="{FF2B5EF4-FFF2-40B4-BE49-F238E27FC236}">
                <a16:creationId xmlns:a16="http://schemas.microsoft.com/office/drawing/2014/main" id="{3B2FCBC8-5DCE-A1EE-6909-5E5360B10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Trucking – PTYSS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7CDA20-7BC7-4062-4AD5-FB4FD88C8E13}"/>
              </a:ext>
            </a:extLst>
          </p:cNvPr>
          <p:cNvSpPr txBox="1"/>
          <p:nvPr/>
        </p:nvSpPr>
        <p:spPr>
          <a:xfrm>
            <a:off x="2552784" y="3042892"/>
            <a:ext cx="170298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Registrar </a:t>
            </a:r>
            <a:r>
              <a:rPr lang="en-US" dirty="0" err="1"/>
              <a:t>viajes</a:t>
            </a:r>
            <a:endParaRPr lang="en-US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77E833B-FF1C-2981-29BD-B1A1B788E453}"/>
              </a:ext>
            </a:extLst>
          </p:cNvPr>
          <p:cNvCxnSpPr>
            <a:cxnSpLocks/>
            <a:stCxn id="29" idx="3"/>
            <a:endCxn id="8" idx="1"/>
          </p:cNvCxnSpPr>
          <p:nvPr/>
        </p:nvCxnSpPr>
        <p:spPr>
          <a:xfrm flipV="1">
            <a:off x="4132530" y="2776112"/>
            <a:ext cx="1061978" cy="3305142"/>
          </a:xfrm>
          <a:prstGeom prst="bentConnector3">
            <a:avLst>
              <a:gd name="adj1" fmla="val 469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8BF6590-A8CB-4D3F-E53F-7B9A24609269}"/>
              </a:ext>
            </a:extLst>
          </p:cNvPr>
          <p:cNvCxnSpPr>
            <a:cxnSpLocks/>
            <a:stCxn id="8" idx="2"/>
            <a:endCxn id="80" idx="0"/>
          </p:cNvCxnSpPr>
          <p:nvPr/>
        </p:nvCxnSpPr>
        <p:spPr>
          <a:xfrm flipH="1">
            <a:off x="6079345" y="2960778"/>
            <a:ext cx="5525" cy="468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FED1FD4-8E6C-5471-625E-91200DB3580D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>
            <a:off x="10959701" y="3123181"/>
            <a:ext cx="0" cy="648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5B9D290-E9DD-B791-72D2-D0EAB36C9C1E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 flipH="1">
            <a:off x="10959700" y="4417556"/>
            <a:ext cx="1" cy="574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AF381A9-B374-11D8-8589-E13B358D7EF8}"/>
              </a:ext>
            </a:extLst>
          </p:cNvPr>
          <p:cNvCxnSpPr>
            <a:cxnSpLocks/>
            <a:stCxn id="80" idx="2"/>
            <a:endCxn id="102" idx="0"/>
          </p:cNvCxnSpPr>
          <p:nvPr/>
        </p:nvCxnSpPr>
        <p:spPr>
          <a:xfrm flipH="1">
            <a:off x="6061987" y="4075331"/>
            <a:ext cx="17358" cy="614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783DEA-B0A9-EEB7-98AF-5F6B8E274F82}"/>
              </a:ext>
            </a:extLst>
          </p:cNvPr>
          <p:cNvSpPr txBox="1"/>
          <p:nvPr/>
        </p:nvSpPr>
        <p:spPr>
          <a:xfrm>
            <a:off x="387043" y="1964829"/>
            <a:ext cx="146005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MDB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8BE499-825E-7937-D9A7-1D7B6AC1EECB}"/>
              </a:ext>
            </a:extLst>
          </p:cNvPr>
          <p:cNvSpPr txBox="1"/>
          <p:nvPr/>
        </p:nvSpPr>
        <p:spPr>
          <a:xfrm>
            <a:off x="387043" y="2440784"/>
            <a:ext cx="146005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en-US" dirty="0"/>
              <a:t>TRASIEGOS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94CFF2-D173-CE23-DE31-BA70BFD83C58}"/>
              </a:ext>
            </a:extLst>
          </p:cNvPr>
          <p:cNvSpPr txBox="1"/>
          <p:nvPr/>
        </p:nvSpPr>
        <p:spPr>
          <a:xfrm>
            <a:off x="2567973" y="3732511"/>
            <a:ext cx="1636512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Asignar</a:t>
            </a:r>
            <a:r>
              <a:rPr lang="en-US" dirty="0"/>
              <a:t> TARIFAS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D22801-055F-9A93-AFDE-CBAFF8C17371}"/>
              </a:ext>
            </a:extLst>
          </p:cNvPr>
          <p:cNvSpPr txBox="1"/>
          <p:nvPr/>
        </p:nvSpPr>
        <p:spPr>
          <a:xfrm>
            <a:off x="414967" y="3173346"/>
            <a:ext cx="1460050" cy="10772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Viajes </a:t>
            </a:r>
            <a:r>
              <a:rPr lang="en-US" sz="1600" dirty="0" err="1"/>
              <a:t>Completados</a:t>
            </a:r>
            <a:r>
              <a:rPr lang="en-US" sz="1600" dirty="0"/>
              <a:t>.  </a:t>
            </a:r>
            <a:r>
              <a:rPr lang="en-US" sz="1600" dirty="0" err="1"/>
              <a:t>Asociado</a:t>
            </a:r>
            <a:r>
              <a:rPr lang="en-US" sz="1600" dirty="0"/>
              <a:t> PTY Ship Suppliers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CC0130-B583-F363-9BE8-D81976C03095}"/>
              </a:ext>
            </a:extLst>
          </p:cNvPr>
          <p:cNvSpPr txBox="1"/>
          <p:nvPr/>
        </p:nvSpPr>
        <p:spPr>
          <a:xfrm>
            <a:off x="2623557" y="5896588"/>
            <a:ext cx="1508973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Enviar</a:t>
            </a:r>
            <a:r>
              <a:rPr lang="en-US" dirty="0"/>
              <a:t> data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EA646A1-1952-FE48-A9B5-EE81128C6AC1}"/>
              </a:ext>
            </a:extLst>
          </p:cNvPr>
          <p:cNvCxnSpPr>
            <a:cxnSpLocks/>
            <a:stCxn id="23" idx="2"/>
            <a:endCxn id="45" idx="0"/>
          </p:cNvCxnSpPr>
          <p:nvPr/>
        </p:nvCxnSpPr>
        <p:spPr>
          <a:xfrm>
            <a:off x="3386229" y="4378842"/>
            <a:ext cx="9022" cy="310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44495EE9-28D4-916D-8422-EFF1CEFE6C52}"/>
              </a:ext>
            </a:extLst>
          </p:cNvPr>
          <p:cNvCxnSpPr>
            <a:cxnSpLocks/>
            <a:stCxn id="25" idx="2"/>
          </p:cNvCxnSpPr>
          <p:nvPr/>
        </p:nvCxnSpPr>
        <p:spPr>
          <a:xfrm rot="16200000" flipH="1">
            <a:off x="1762146" y="3633409"/>
            <a:ext cx="2284220" cy="35185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8E81D4E6-0A9A-D656-5E6F-8C0C840567B0}"/>
              </a:ext>
            </a:extLst>
          </p:cNvPr>
          <p:cNvSpPr/>
          <p:nvPr/>
        </p:nvSpPr>
        <p:spPr>
          <a:xfrm>
            <a:off x="277975" y="1820333"/>
            <a:ext cx="1695382" cy="37514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8E51FDFD-DCB3-DE3C-4E5C-C2C9857E09DC}"/>
              </a:ext>
            </a:extLst>
          </p:cNvPr>
          <p:cNvCxnSpPr>
            <a:cxnSpLocks/>
            <a:stCxn id="2" idx="2"/>
            <a:endCxn id="23" idx="0"/>
          </p:cNvCxnSpPr>
          <p:nvPr/>
        </p:nvCxnSpPr>
        <p:spPr>
          <a:xfrm flipH="1">
            <a:off x="3386229" y="3412224"/>
            <a:ext cx="18045" cy="320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02AD8F2B-21E1-0B7A-E642-9D17CA8BA24F}"/>
              </a:ext>
            </a:extLst>
          </p:cNvPr>
          <p:cNvCxnSpPr>
            <a:cxnSpLocks/>
            <a:stCxn id="10" idx="3"/>
            <a:endCxn id="39" idx="1"/>
          </p:cNvCxnSpPr>
          <p:nvPr/>
        </p:nvCxnSpPr>
        <p:spPr>
          <a:xfrm flipV="1">
            <a:off x="9505495" y="2938515"/>
            <a:ext cx="556696" cy="26881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C9C9E0B-0A34-BC7C-913A-8744702E90AB}"/>
              </a:ext>
            </a:extLst>
          </p:cNvPr>
          <p:cNvSpPr txBox="1"/>
          <p:nvPr/>
        </p:nvSpPr>
        <p:spPr>
          <a:xfrm>
            <a:off x="2266323" y="1386535"/>
            <a:ext cx="751752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New System PTY TOOL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2700C-D1C9-D0A8-867E-97EA6C1E5597}"/>
              </a:ext>
            </a:extLst>
          </p:cNvPr>
          <p:cNvSpPr txBox="1"/>
          <p:nvPr/>
        </p:nvSpPr>
        <p:spPr>
          <a:xfrm>
            <a:off x="2501508" y="2421554"/>
            <a:ext cx="170297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en-US" dirty="0"/>
              <a:t>LOCALES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703090-AB3D-5A2A-1F77-4EDC1D22D883}"/>
              </a:ext>
            </a:extLst>
          </p:cNvPr>
          <p:cNvSpPr txBox="1"/>
          <p:nvPr/>
        </p:nvSpPr>
        <p:spPr>
          <a:xfrm>
            <a:off x="2576999" y="4689622"/>
            <a:ext cx="1636503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Adjuntar</a:t>
            </a:r>
            <a:r>
              <a:rPr lang="en-US" dirty="0"/>
              <a:t> </a:t>
            </a:r>
            <a:r>
              <a:rPr lang="en-US" dirty="0" err="1"/>
              <a:t>soportes</a:t>
            </a:r>
            <a:r>
              <a:rPr lang="en-US" dirty="0"/>
              <a:t> (PDF)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viaje</a:t>
            </a:r>
            <a:endParaRPr lang="en-US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F25ED50-9DF4-14F2-1015-627C154D2838}"/>
              </a:ext>
            </a:extLst>
          </p:cNvPr>
          <p:cNvCxnSpPr>
            <a:cxnSpLocks/>
            <a:stCxn id="45" idx="2"/>
            <a:endCxn id="29" idx="0"/>
          </p:cNvCxnSpPr>
          <p:nvPr/>
        </p:nvCxnSpPr>
        <p:spPr>
          <a:xfrm flipH="1">
            <a:off x="3378044" y="5612952"/>
            <a:ext cx="17207" cy="283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728A4A1-B11E-8255-C07F-69CB1676EDC2}"/>
              </a:ext>
            </a:extLst>
          </p:cNvPr>
          <p:cNvSpPr txBox="1"/>
          <p:nvPr/>
        </p:nvSpPr>
        <p:spPr>
          <a:xfrm>
            <a:off x="5248103" y="3429000"/>
            <a:ext cx="1662484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adjuntos</a:t>
            </a:r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09AC4DF-4483-995A-BAF9-3E7A13008775}"/>
              </a:ext>
            </a:extLst>
          </p:cNvPr>
          <p:cNvSpPr txBox="1"/>
          <p:nvPr/>
        </p:nvSpPr>
        <p:spPr>
          <a:xfrm>
            <a:off x="5111011" y="4689622"/>
            <a:ext cx="1901952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Seleccionar</a:t>
            </a:r>
            <a:r>
              <a:rPr lang="en-US" sz="1800" dirty="0"/>
              <a:t> </a:t>
            </a:r>
            <a:r>
              <a:rPr lang="en-US" sz="1800" dirty="0" err="1"/>
              <a:t>parametros</a:t>
            </a:r>
            <a:r>
              <a:rPr lang="en-US" sz="1800" dirty="0"/>
              <a:t>:  Por </a:t>
            </a:r>
            <a:r>
              <a:rPr lang="en-US" sz="1800" dirty="0" err="1"/>
              <a:t>cliente</a:t>
            </a:r>
            <a:r>
              <a:rPr lang="en-US" sz="1800" dirty="0"/>
              <a:t>, </a:t>
            </a:r>
            <a:r>
              <a:rPr lang="en-US" sz="1800" dirty="0" err="1"/>
              <a:t>barco</a:t>
            </a:r>
            <a:r>
              <a:rPr lang="en-US" sz="1800" dirty="0"/>
              <a:t>/</a:t>
            </a:r>
            <a:r>
              <a:rPr lang="en-US" sz="1800" dirty="0" err="1"/>
              <a:t>viaje</a:t>
            </a:r>
            <a:r>
              <a:rPr lang="en-US" sz="1800" dirty="0"/>
              <a:t> y/o </a:t>
            </a:r>
            <a:r>
              <a:rPr lang="en-US" sz="1800" dirty="0" err="1"/>
              <a:t>rango</a:t>
            </a:r>
            <a:r>
              <a:rPr lang="en-US" sz="1800" dirty="0"/>
              <a:t> de </a:t>
            </a:r>
            <a:r>
              <a:rPr lang="en-US" sz="1800" dirty="0" err="1"/>
              <a:t>fechas</a:t>
            </a:r>
            <a:endParaRPr lang="en-US" sz="1800" dirty="0"/>
          </a:p>
        </p:txBody>
      </p: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F13A34BC-2683-86FA-351C-85A05429C6D9}"/>
              </a:ext>
            </a:extLst>
          </p:cNvPr>
          <p:cNvCxnSpPr>
            <a:cxnSpLocks/>
            <a:endCxn id="8" idx="1"/>
          </p:cNvCxnSpPr>
          <p:nvPr/>
        </p:nvCxnSpPr>
        <p:spPr>
          <a:xfrm rot="5400000" flipH="1" flipV="1">
            <a:off x="3035281" y="4375558"/>
            <a:ext cx="3758672" cy="55978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576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CE08CB-ED3D-E1FA-9AAF-9B10F4E4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Trucking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5423B-DC8A-93F0-7494-F0C8544E5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Input : </a:t>
            </a:r>
          </a:p>
          <a:p>
            <a:pPr lvl="1"/>
            <a:r>
              <a:rPr lang="en-US" dirty="0" err="1"/>
              <a:t>Reporte</a:t>
            </a:r>
            <a:r>
              <a:rPr lang="en-US" dirty="0"/>
              <a:t> manual de excel</a:t>
            </a:r>
          </a:p>
          <a:p>
            <a:pPr lvl="1"/>
            <a:r>
              <a:rPr lang="en-US" dirty="0" err="1"/>
              <a:t>Desde</a:t>
            </a:r>
            <a:r>
              <a:rPr lang="en-US" dirty="0"/>
              <a:t> MDB (</a:t>
            </a:r>
            <a:r>
              <a:rPr lang="en-US" dirty="0" err="1"/>
              <a:t>trasiegos</a:t>
            </a:r>
            <a:r>
              <a:rPr lang="en-US" dirty="0"/>
              <a:t>)</a:t>
            </a:r>
          </a:p>
          <a:p>
            <a:r>
              <a:rPr lang="en-US" dirty="0" err="1"/>
              <a:t>Anexa</a:t>
            </a:r>
            <a:r>
              <a:rPr lang="en-US" dirty="0"/>
              <a:t> </a:t>
            </a:r>
            <a:r>
              <a:rPr lang="en-US" dirty="0" err="1"/>
              <a:t>documentos</a:t>
            </a:r>
            <a:r>
              <a:rPr lang="en-US" dirty="0"/>
              <a:t> de </a:t>
            </a:r>
            <a:r>
              <a:rPr lang="en-US" dirty="0" err="1"/>
              <a:t>soporte</a:t>
            </a:r>
            <a:endParaRPr lang="en-US" dirty="0"/>
          </a:p>
          <a:p>
            <a:r>
              <a:rPr lang="en-US" dirty="0" err="1"/>
              <a:t>Calcular</a:t>
            </a:r>
            <a:r>
              <a:rPr lang="en-US" dirty="0"/>
              <a:t> bono y </a:t>
            </a:r>
            <a:r>
              <a:rPr lang="en-US" dirty="0" err="1"/>
              <a:t>tarifas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movimiento</a:t>
            </a:r>
            <a:endParaRPr lang="en-US" dirty="0"/>
          </a:p>
          <a:p>
            <a:pPr lvl="1"/>
            <a:r>
              <a:rPr lang="en-US" dirty="0"/>
              <a:t>Bono: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tarifa</a:t>
            </a:r>
            <a:r>
              <a:rPr lang="en-US" dirty="0"/>
              <a:t> </a:t>
            </a:r>
            <a:r>
              <a:rPr lang="en-US" dirty="0" err="1"/>
              <a:t>fija</a:t>
            </a:r>
            <a:r>
              <a:rPr lang="en-US" dirty="0"/>
              <a:t>. Se </a:t>
            </a:r>
            <a:r>
              <a:rPr lang="en-US" dirty="0" err="1"/>
              <a:t>paga</a:t>
            </a:r>
            <a:r>
              <a:rPr lang="en-US" dirty="0"/>
              <a:t> a local y </a:t>
            </a:r>
            <a:r>
              <a:rPr lang="en-US" dirty="0" err="1"/>
              <a:t>tercerizado</a:t>
            </a:r>
            <a:endParaRPr lang="en-US" dirty="0"/>
          </a:p>
          <a:p>
            <a:r>
              <a:rPr lang="en-US" dirty="0"/>
              <a:t>Se </a:t>
            </a:r>
            <a:r>
              <a:rPr lang="en-US" dirty="0" err="1"/>
              <a:t>envia</a:t>
            </a:r>
            <a:r>
              <a:rPr lang="en-US" dirty="0"/>
              <a:t> </a:t>
            </a:r>
            <a:r>
              <a:rPr lang="en-US" dirty="0" err="1"/>
              <a:t>facturacion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cuanto</a:t>
            </a:r>
            <a:r>
              <a:rPr lang="en-US" dirty="0"/>
              <a:t> se complete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movimiento</a:t>
            </a:r>
            <a:endParaRPr lang="en-US" dirty="0"/>
          </a:p>
          <a:p>
            <a:r>
              <a:rPr lang="en-US" dirty="0" err="1"/>
              <a:t>Tarifas</a:t>
            </a:r>
            <a:endParaRPr lang="en-US" dirty="0"/>
          </a:p>
          <a:p>
            <a:pPr lvl="1"/>
            <a:r>
              <a:rPr lang="en-US" dirty="0" err="1"/>
              <a:t>Fijas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decreto</a:t>
            </a:r>
            <a:r>
              <a:rPr lang="en-US" dirty="0"/>
              <a:t> legal</a:t>
            </a:r>
          </a:p>
          <a:p>
            <a:pPr lvl="2"/>
            <a:r>
              <a:rPr lang="en-US" dirty="0" err="1"/>
              <a:t>Fijas</a:t>
            </a:r>
            <a:r>
              <a:rPr lang="en-US" dirty="0"/>
              <a:t> para </a:t>
            </a:r>
            <a:r>
              <a:rPr lang="en-US" dirty="0" err="1"/>
              <a:t>algunos</a:t>
            </a:r>
            <a:r>
              <a:rPr lang="en-US" dirty="0"/>
              <a:t> </a:t>
            </a:r>
            <a:r>
              <a:rPr lang="en-US" dirty="0" err="1"/>
              <a:t>clientes</a:t>
            </a:r>
            <a:endParaRPr lang="en-US" dirty="0"/>
          </a:p>
          <a:p>
            <a:pPr lvl="3"/>
            <a:r>
              <a:rPr lang="en-US" dirty="0" err="1"/>
              <a:t>Opcion</a:t>
            </a:r>
            <a:r>
              <a:rPr lang="en-US" dirty="0"/>
              <a:t> de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tarifas</a:t>
            </a:r>
            <a:r>
              <a:rPr lang="en-US" dirty="0"/>
              <a:t> (solo bajo un role de supervisor)</a:t>
            </a:r>
          </a:p>
          <a:p>
            <a:r>
              <a:rPr lang="en-US" dirty="0">
                <a:highlight>
                  <a:srgbClr val="FFFF00"/>
                </a:highlight>
              </a:rPr>
              <a:t>TICKETS de </a:t>
            </a:r>
            <a:r>
              <a:rPr lang="en-US" dirty="0" err="1">
                <a:highlight>
                  <a:srgbClr val="FFFF00"/>
                </a:highlight>
              </a:rPr>
              <a:t>recepcion</a:t>
            </a:r>
            <a:r>
              <a:rPr lang="en-US" dirty="0">
                <a:highlight>
                  <a:srgbClr val="FFFF00"/>
                </a:highlight>
              </a:rPr>
              <a:t> que le dan </a:t>
            </a:r>
            <a:r>
              <a:rPr lang="en-US" dirty="0" err="1">
                <a:highlight>
                  <a:srgbClr val="FFFF00"/>
                </a:highlight>
              </a:rPr>
              <a:t>fisicamente</a:t>
            </a:r>
            <a:r>
              <a:rPr lang="en-US" dirty="0">
                <a:highlight>
                  <a:srgbClr val="FFFF00"/>
                </a:highlight>
              </a:rPr>
              <a:t> a PTYSS </a:t>
            </a:r>
            <a:r>
              <a:rPr lang="en-US" dirty="0" err="1">
                <a:highlight>
                  <a:srgbClr val="FFFF00"/>
                </a:highlight>
              </a:rPr>
              <a:t>por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moviento</a:t>
            </a:r>
            <a:r>
              <a:rPr lang="en-US" dirty="0">
                <a:highlight>
                  <a:srgbClr val="FFFF00"/>
                </a:highlight>
              </a:rPr>
              <a:t> : </a:t>
            </a:r>
            <a:r>
              <a:rPr lang="en-US" dirty="0" err="1">
                <a:highlight>
                  <a:srgbClr val="FFFF00"/>
                </a:highlight>
              </a:rPr>
              <a:t>Pregutar</a:t>
            </a:r>
            <a:r>
              <a:rPr lang="en-US" dirty="0">
                <a:highlight>
                  <a:srgbClr val="FFFF00"/>
                </a:highlight>
              </a:rPr>
              <a:t> a  Maribel, </a:t>
            </a:r>
            <a:r>
              <a:rPr lang="en-US" dirty="0" err="1">
                <a:highlight>
                  <a:srgbClr val="FFFF00"/>
                </a:highlight>
              </a:rPr>
              <a:t>como</a:t>
            </a:r>
            <a:r>
              <a:rPr lang="en-US" dirty="0">
                <a:highlight>
                  <a:srgbClr val="FFFF00"/>
                </a:highlight>
              </a:rPr>
              <a:t> se </a:t>
            </a:r>
            <a:r>
              <a:rPr lang="en-US" dirty="0" err="1">
                <a:highlight>
                  <a:srgbClr val="FFFF00"/>
                </a:highlight>
              </a:rPr>
              <a:t>va</a:t>
            </a:r>
            <a:r>
              <a:rPr lang="en-US" dirty="0">
                <a:highlight>
                  <a:srgbClr val="FFFF00"/>
                </a:highlight>
              </a:rPr>
              <a:t> a </a:t>
            </a:r>
            <a:r>
              <a:rPr lang="en-US" dirty="0" err="1">
                <a:highlight>
                  <a:srgbClr val="FFFF00"/>
                </a:highlight>
              </a:rPr>
              <a:t>hacer</a:t>
            </a:r>
            <a:r>
              <a:rPr lang="en-US" dirty="0">
                <a:highlight>
                  <a:srgbClr val="FFFF00"/>
                </a:highlight>
              </a:rPr>
              <a:t> con MDB</a:t>
            </a:r>
          </a:p>
          <a:p>
            <a:r>
              <a:rPr lang="en-US" dirty="0" err="1"/>
              <a:t>Candado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900649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F09BF-7171-5C67-860E-D678EAF48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2EC0C-948D-E4A6-7365-1EA3D635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Pagos a </a:t>
            </a:r>
            <a:r>
              <a:rPr lang="en-US" dirty="0" err="1"/>
              <a:t>Tercerizados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7F79-9448-D131-40EF-79C683D5DE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As-Is</a:t>
            </a:r>
          </a:p>
          <a:p>
            <a:r>
              <a:rPr lang="en-US" dirty="0" err="1"/>
              <a:t>Recibe</a:t>
            </a:r>
            <a:r>
              <a:rPr lang="en-US" dirty="0"/>
              <a:t> factura del </a:t>
            </a:r>
            <a:r>
              <a:rPr lang="en-US" dirty="0" err="1"/>
              <a:t>Tercerizado</a:t>
            </a:r>
            <a:r>
              <a:rPr lang="en-US" dirty="0"/>
              <a:t> </a:t>
            </a:r>
          </a:p>
          <a:p>
            <a:r>
              <a:rPr lang="en-US" dirty="0"/>
              <a:t>Sube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carpeta</a:t>
            </a:r>
            <a:r>
              <a:rPr lang="en-US" dirty="0"/>
              <a:t> </a:t>
            </a:r>
          </a:p>
          <a:p>
            <a:r>
              <a:rPr lang="en-US" dirty="0"/>
              <a:t>Manda un </a:t>
            </a:r>
            <a:r>
              <a:rPr lang="en-US" dirty="0" err="1"/>
              <a:t>correo</a:t>
            </a:r>
            <a:r>
              <a:rPr lang="en-US" dirty="0"/>
              <a:t> </a:t>
            </a:r>
            <a:r>
              <a:rPr lang="en-US" dirty="0" err="1"/>
              <a:t>solicitando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pago</a:t>
            </a:r>
            <a:r>
              <a:rPr lang="en-US" dirty="0"/>
              <a:t> de factura a Yessenia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A3750-288F-7592-5DCA-316ED29F09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To-be</a:t>
            </a:r>
          </a:p>
          <a:p>
            <a:r>
              <a:rPr lang="en-US" dirty="0"/>
              <a:t>Trucking SR a </a:t>
            </a:r>
            <a:r>
              <a:rPr lang="en-US" dirty="0" err="1"/>
              <a:t>Tercerizado</a:t>
            </a:r>
            <a:r>
              <a:rPr lang="en-US" dirty="0"/>
              <a:t> (</a:t>
            </a:r>
            <a:r>
              <a:rPr lang="en-US" dirty="0" err="1"/>
              <a:t>numero</a:t>
            </a:r>
            <a:r>
              <a:rPr lang="en-US" dirty="0"/>
              <a:t> </a:t>
            </a:r>
            <a:r>
              <a:rPr lang="en-US" dirty="0" err="1"/>
              <a:t>unico</a:t>
            </a:r>
            <a:r>
              <a:rPr lang="en-US" dirty="0"/>
              <a:t>)</a:t>
            </a:r>
          </a:p>
          <a:p>
            <a:r>
              <a:rPr lang="en-US" dirty="0" err="1"/>
              <a:t>Tercerizado</a:t>
            </a:r>
            <a:r>
              <a:rPr lang="en-US" dirty="0"/>
              <a:t> </a:t>
            </a:r>
            <a:r>
              <a:rPr lang="en-US" dirty="0" err="1"/>
              <a:t>envia</a:t>
            </a:r>
            <a:r>
              <a:rPr lang="en-US" dirty="0"/>
              <a:t> factura a Proveedores (Yesenia) con </a:t>
            </a:r>
            <a:r>
              <a:rPr lang="en-US" dirty="0" err="1"/>
              <a:t>numero</a:t>
            </a:r>
            <a:r>
              <a:rPr lang="en-US" dirty="0"/>
              <a:t> de SR</a:t>
            </a:r>
          </a:p>
          <a:p>
            <a:r>
              <a:rPr lang="en-US" dirty="0"/>
              <a:t>Proveedores </a:t>
            </a:r>
            <a:r>
              <a:rPr lang="en-US" dirty="0" err="1"/>
              <a:t>registra</a:t>
            </a:r>
            <a:r>
              <a:rPr lang="en-US" dirty="0"/>
              <a:t> factura de </a:t>
            </a:r>
            <a:r>
              <a:rPr lang="en-US" dirty="0" err="1"/>
              <a:t>Tercerizado</a:t>
            </a:r>
            <a:r>
              <a:rPr lang="en-US" dirty="0"/>
              <a:t> </a:t>
            </a:r>
            <a:r>
              <a:rPr lang="en-US" dirty="0" err="1"/>
              <a:t>asociando</a:t>
            </a:r>
            <a:r>
              <a:rPr lang="en-US" dirty="0"/>
              <a:t> a </a:t>
            </a:r>
            <a:r>
              <a:rPr lang="en-US" dirty="0" err="1"/>
              <a:t>numero</a:t>
            </a:r>
            <a:r>
              <a:rPr lang="en-US" dirty="0"/>
              <a:t> de SR.</a:t>
            </a:r>
          </a:p>
          <a:p>
            <a:r>
              <a:rPr lang="en-US" dirty="0"/>
              <a:t>Proveedores Paga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D1AF3B-E479-F25D-D305-F373D1055473}"/>
              </a:ext>
            </a:extLst>
          </p:cNvPr>
          <p:cNvSpPr txBox="1"/>
          <p:nvPr/>
        </p:nvSpPr>
        <p:spPr>
          <a:xfrm>
            <a:off x="8763000" y="6104466"/>
            <a:ext cx="322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(*) SR = Service Request</a:t>
            </a:r>
          </a:p>
        </p:txBody>
      </p:sp>
    </p:spTree>
    <p:extLst>
      <p:ext uri="{BB962C8B-B14F-4D97-AF65-F5344CB8AC3E}">
        <p14:creationId xmlns:p14="http://schemas.microsoft.com/office/powerpoint/2010/main" val="3742481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36907-8149-07D8-9D19-E8A119CE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Invocing</a:t>
            </a:r>
            <a:r>
              <a:rPr lang="en-US" dirty="0"/>
              <a:t> Tool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41538-4E81-A0F8-3989-C4A0A80C74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Importar</a:t>
            </a:r>
            <a:r>
              <a:rPr lang="en-US" dirty="0"/>
              <a:t> </a:t>
            </a:r>
            <a:r>
              <a:rPr lang="en-US" dirty="0" err="1"/>
              <a:t>reporte</a:t>
            </a:r>
            <a:r>
              <a:rPr lang="en-US" dirty="0"/>
              <a:t> de excel para </a:t>
            </a:r>
            <a:r>
              <a:rPr lang="en-US" dirty="0" err="1"/>
              <a:t>incluir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gastos</a:t>
            </a:r>
            <a:r>
              <a:rPr lang="en-US" dirty="0"/>
              <a:t> de </a:t>
            </a:r>
            <a:r>
              <a:rPr lang="en-US" dirty="0" err="1"/>
              <a:t>flota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numero</a:t>
            </a:r>
            <a:r>
              <a:rPr lang="en-US" dirty="0"/>
              <a:t> de </a:t>
            </a:r>
            <a:r>
              <a:rPr lang="en-US" dirty="0" err="1"/>
              <a:t>placa</a:t>
            </a:r>
            <a:r>
              <a:rPr lang="en-US" dirty="0"/>
              <a:t> (</a:t>
            </a:r>
            <a:r>
              <a:rPr lang="en-US" dirty="0" err="1"/>
              <a:t>reporte</a:t>
            </a:r>
            <a:r>
              <a:rPr lang="en-US" dirty="0"/>
              <a:t> de Moises)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A8852-7192-E49E-4361-33B3D489C6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92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607DC-8B89-F8D8-2A70-16E951799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493AE6-DDF1-2C2C-A12F-C126344FFB69}"/>
              </a:ext>
            </a:extLst>
          </p:cNvPr>
          <p:cNvSpPr txBox="1"/>
          <p:nvPr/>
        </p:nvSpPr>
        <p:spPr>
          <a:xfrm>
            <a:off x="3850193" y="4948363"/>
            <a:ext cx="1901952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Seleccionar</a:t>
            </a:r>
            <a:r>
              <a:rPr lang="en-US" sz="1800" dirty="0"/>
              <a:t> </a:t>
            </a:r>
            <a:r>
              <a:rPr lang="en-US" sz="1800" dirty="0" err="1"/>
              <a:t>parametros</a:t>
            </a:r>
            <a:r>
              <a:rPr lang="en-US" sz="1800" dirty="0"/>
              <a:t>:  Por </a:t>
            </a:r>
            <a:r>
              <a:rPr lang="en-US" sz="1800" dirty="0" err="1"/>
              <a:t>cliente</a:t>
            </a:r>
            <a:r>
              <a:rPr lang="en-US" sz="1800" dirty="0"/>
              <a:t>, </a:t>
            </a:r>
            <a:r>
              <a:rPr lang="en-US" sz="1800" dirty="0" err="1"/>
              <a:t>barco</a:t>
            </a:r>
            <a:r>
              <a:rPr lang="en-US" sz="1800" dirty="0"/>
              <a:t>/</a:t>
            </a:r>
            <a:r>
              <a:rPr lang="en-US" sz="1800" dirty="0" err="1"/>
              <a:t>viaje</a:t>
            </a:r>
            <a:r>
              <a:rPr lang="en-US" sz="1800" dirty="0"/>
              <a:t> y/o </a:t>
            </a:r>
            <a:r>
              <a:rPr lang="en-US" sz="1800" dirty="0" err="1"/>
              <a:t>rango</a:t>
            </a:r>
            <a:r>
              <a:rPr lang="en-US" sz="1800" dirty="0"/>
              <a:t> de </a:t>
            </a:r>
            <a:r>
              <a:rPr lang="en-US" sz="1800" dirty="0" err="1"/>
              <a:t>fechas</a:t>
            </a: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B3CB49-2E8A-D1AC-34FB-C510DC96A409}"/>
              </a:ext>
            </a:extLst>
          </p:cNvPr>
          <p:cNvSpPr txBox="1"/>
          <p:nvPr/>
        </p:nvSpPr>
        <p:spPr>
          <a:xfrm>
            <a:off x="7055294" y="2710034"/>
            <a:ext cx="1901952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reporte</a:t>
            </a:r>
            <a:r>
              <a:rPr lang="en-US" dirty="0"/>
              <a:t> de Tulia </a:t>
            </a:r>
            <a:r>
              <a:rPr lang="en-US" dirty="0" err="1"/>
              <a:t>en</a:t>
            </a:r>
            <a:r>
              <a:rPr lang="en-US" dirty="0"/>
              <a:t> excel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6E04F-D896-47A9-A9FC-4223C50A4D2D}"/>
              </a:ext>
            </a:extLst>
          </p:cNvPr>
          <p:cNvSpPr txBox="1"/>
          <p:nvPr/>
        </p:nvSpPr>
        <p:spPr>
          <a:xfrm>
            <a:off x="7055294" y="3556611"/>
            <a:ext cx="1901952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Generar</a:t>
            </a:r>
            <a:r>
              <a:rPr lang="en-US" dirty="0"/>
              <a:t> factura proforma (</a:t>
            </a:r>
            <a:r>
              <a:rPr lang="en-US" dirty="0" err="1"/>
              <a:t>fisica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pdf) con sus </a:t>
            </a:r>
            <a:r>
              <a:rPr lang="en-US" dirty="0" err="1"/>
              <a:t>respectivos</a:t>
            </a:r>
            <a:r>
              <a:rPr lang="en-US" dirty="0"/>
              <a:t> </a:t>
            </a:r>
            <a:r>
              <a:rPr lang="en-US" dirty="0" err="1"/>
              <a:t>adjuntos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AD346A-2068-7027-C19E-BBC5C20B4CE7}"/>
              </a:ext>
            </a:extLst>
          </p:cNvPr>
          <p:cNvSpPr txBox="1"/>
          <p:nvPr/>
        </p:nvSpPr>
        <p:spPr>
          <a:xfrm>
            <a:off x="3863496" y="2693808"/>
            <a:ext cx="190195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Import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E70BF-640A-A24E-89A1-1019754E5F47}"/>
              </a:ext>
            </a:extLst>
          </p:cNvPr>
          <p:cNvSpPr txBox="1"/>
          <p:nvPr/>
        </p:nvSpPr>
        <p:spPr>
          <a:xfrm>
            <a:off x="7028687" y="5200382"/>
            <a:ext cx="190195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Envia XML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1E13FC-A551-5A2E-B44C-A61CBE7F3AF4}"/>
              </a:ext>
            </a:extLst>
          </p:cNvPr>
          <p:cNvSpPr txBox="1"/>
          <p:nvPr/>
        </p:nvSpPr>
        <p:spPr>
          <a:xfrm>
            <a:off x="3650752" y="2140456"/>
            <a:ext cx="546519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INVOICINIG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597198B-C33D-FFB8-5F9A-BA69AF10589D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5769399" y="4295275"/>
            <a:ext cx="1285895" cy="18874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22C510D0-CA7F-4E84-BDFC-21DDFBA53D60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5769399" y="3033200"/>
            <a:ext cx="1285895" cy="31495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BE451C9-714B-82F2-7291-C4EEA7C99047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769399" y="5385048"/>
            <a:ext cx="1259288" cy="7977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351DB67-27BC-D8F9-6086-6B4BC97C2313}"/>
              </a:ext>
            </a:extLst>
          </p:cNvPr>
          <p:cNvSpPr txBox="1"/>
          <p:nvPr/>
        </p:nvSpPr>
        <p:spPr>
          <a:xfrm>
            <a:off x="249171" y="2182014"/>
            <a:ext cx="1148215" cy="36933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Seaborn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E05884-8EDA-1735-B010-E129840BB282}"/>
              </a:ext>
            </a:extLst>
          </p:cNvPr>
          <p:cNvCxnSpPr>
            <a:cxnSpLocks/>
          </p:cNvCxnSpPr>
          <p:nvPr/>
        </p:nvCxnSpPr>
        <p:spPr>
          <a:xfrm>
            <a:off x="3392424" y="2023533"/>
            <a:ext cx="0" cy="4453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8F13D31-CFC2-4CD0-4D26-5DE3B276DE52}"/>
              </a:ext>
            </a:extLst>
          </p:cNvPr>
          <p:cNvSpPr txBox="1"/>
          <p:nvPr/>
        </p:nvSpPr>
        <p:spPr>
          <a:xfrm>
            <a:off x="9443841" y="2101916"/>
            <a:ext cx="2532888" cy="36933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SAP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C8D68D-DC78-5BA6-0FB7-6799EF66FD31}"/>
              </a:ext>
            </a:extLst>
          </p:cNvPr>
          <p:cNvSpPr txBox="1"/>
          <p:nvPr/>
        </p:nvSpPr>
        <p:spPr>
          <a:xfrm>
            <a:off x="9785760" y="2710034"/>
            <a:ext cx="179501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Cargar</a:t>
            </a:r>
            <a:r>
              <a:rPr lang="en-US" dirty="0"/>
              <a:t> XML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C70094-B179-671E-938D-A04B71F6B99F}"/>
              </a:ext>
            </a:extLst>
          </p:cNvPr>
          <p:cNvSpPr txBox="1"/>
          <p:nvPr/>
        </p:nvSpPr>
        <p:spPr>
          <a:xfrm>
            <a:off x="9732294" y="3727410"/>
            <a:ext cx="1901952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corregir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C4DFA6-3E54-4E22-35D7-035C243E51D6}"/>
              </a:ext>
            </a:extLst>
          </p:cNvPr>
          <p:cNvSpPr txBox="1"/>
          <p:nvPr/>
        </p:nvSpPr>
        <p:spPr>
          <a:xfrm>
            <a:off x="9732294" y="4948363"/>
            <a:ext cx="190195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Transmitir</a:t>
            </a:r>
            <a:r>
              <a:rPr lang="en-US" dirty="0"/>
              <a:t> a SAP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317FA12-FD73-E31D-F3A7-CBABAD45713B}"/>
              </a:ext>
            </a:extLst>
          </p:cNvPr>
          <p:cNvCxnSpPr>
            <a:cxnSpLocks/>
          </p:cNvCxnSpPr>
          <p:nvPr/>
        </p:nvCxnSpPr>
        <p:spPr>
          <a:xfrm>
            <a:off x="9314688" y="1690688"/>
            <a:ext cx="0" cy="4869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itle 66">
            <a:extLst>
              <a:ext uri="{FF2B5EF4-FFF2-40B4-BE49-F238E27FC236}">
                <a16:creationId xmlns:a16="http://schemas.microsoft.com/office/drawing/2014/main" id="{9C62661C-B419-A399-0841-A1D239AFB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Ship Chandler - PTYSS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2529AE-AAF1-B81E-E3C5-415C7988CE5E}"/>
              </a:ext>
            </a:extLst>
          </p:cNvPr>
          <p:cNvSpPr txBox="1"/>
          <p:nvPr/>
        </p:nvSpPr>
        <p:spPr>
          <a:xfrm>
            <a:off x="223786" y="2820454"/>
            <a:ext cx="1198987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Exportar</a:t>
            </a:r>
            <a:r>
              <a:rPr lang="en-US" dirty="0"/>
              <a:t> </a:t>
            </a:r>
            <a:r>
              <a:rPr lang="en-US" dirty="0" err="1"/>
              <a:t>reporte</a:t>
            </a:r>
            <a:r>
              <a:rPr lang="en-US" dirty="0"/>
              <a:t> de excel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01DCC80-F012-FC65-C09D-F9B95DF812C2}"/>
              </a:ext>
            </a:extLst>
          </p:cNvPr>
          <p:cNvCxnSpPr>
            <a:cxnSpLocks/>
            <a:stCxn id="26" idx="3"/>
            <a:endCxn id="8" idx="1"/>
          </p:cNvCxnSpPr>
          <p:nvPr/>
        </p:nvCxnSpPr>
        <p:spPr>
          <a:xfrm flipV="1">
            <a:off x="3084033" y="2878474"/>
            <a:ext cx="779463" cy="30501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264589E-9C0E-DEC6-6CE6-F7FAF6B106E2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>
            <a:off x="10683270" y="3079366"/>
            <a:ext cx="0" cy="648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EE2B755-EFBA-5980-005C-DBCA87BE032A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10683270" y="4373741"/>
            <a:ext cx="0" cy="574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D5E2A54-1AB7-B6BF-8566-6F18DA7CC75F}"/>
              </a:ext>
            </a:extLst>
          </p:cNvPr>
          <p:cNvSpPr txBox="1"/>
          <p:nvPr/>
        </p:nvSpPr>
        <p:spPr>
          <a:xfrm>
            <a:off x="1731165" y="5743983"/>
            <a:ext cx="135286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Enviar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C3F55C-127F-EF78-D9E9-5D69FB8F96E0}"/>
              </a:ext>
            </a:extLst>
          </p:cNvPr>
          <p:cNvCxnSpPr>
            <a:cxnSpLocks/>
            <a:stCxn id="47" idx="2"/>
            <a:endCxn id="19" idx="0"/>
          </p:cNvCxnSpPr>
          <p:nvPr/>
        </p:nvCxnSpPr>
        <p:spPr>
          <a:xfrm>
            <a:off x="2395220" y="3605284"/>
            <a:ext cx="2553" cy="278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D661A3-02DE-0724-52D0-50EA5C74EA0B}"/>
              </a:ext>
            </a:extLst>
          </p:cNvPr>
          <p:cNvSpPr txBox="1"/>
          <p:nvPr/>
        </p:nvSpPr>
        <p:spPr>
          <a:xfrm>
            <a:off x="7028687" y="5928649"/>
            <a:ext cx="1901952" cy="64633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Generar</a:t>
            </a:r>
            <a:r>
              <a:rPr lang="en-US" dirty="0">
                <a:solidFill>
                  <a:schemeClr val="bg1"/>
                </a:solidFill>
              </a:rPr>
              <a:t> EDI a HKA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D94E57A-6E39-3CCB-7775-524B38BD47EA}"/>
              </a:ext>
            </a:extLst>
          </p:cNvPr>
          <p:cNvCxnSpPr>
            <a:cxnSpLocks/>
            <a:stCxn id="10" idx="3"/>
            <a:endCxn id="39" idx="1"/>
          </p:cNvCxnSpPr>
          <p:nvPr/>
        </p:nvCxnSpPr>
        <p:spPr>
          <a:xfrm flipV="1">
            <a:off x="8930639" y="2894700"/>
            <a:ext cx="855121" cy="24903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492FAD-4A2F-2845-4EA7-91A291B76549}"/>
              </a:ext>
            </a:extLst>
          </p:cNvPr>
          <p:cNvCxnSpPr>
            <a:cxnSpLocks/>
            <a:stCxn id="8" idx="2"/>
            <a:endCxn id="82" idx="0"/>
          </p:cNvCxnSpPr>
          <p:nvPr/>
        </p:nvCxnSpPr>
        <p:spPr>
          <a:xfrm>
            <a:off x="4814472" y="3063140"/>
            <a:ext cx="17255" cy="570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2EFF0A5-DDCB-A41F-60D9-2735B96B2F74}"/>
              </a:ext>
            </a:extLst>
          </p:cNvPr>
          <p:cNvSpPr txBox="1"/>
          <p:nvPr/>
        </p:nvSpPr>
        <p:spPr>
          <a:xfrm>
            <a:off x="1721339" y="3883869"/>
            <a:ext cx="1352868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Adjuntar</a:t>
            </a:r>
            <a:r>
              <a:rPr lang="en-US" dirty="0"/>
              <a:t> </a:t>
            </a:r>
            <a:r>
              <a:rPr lang="en-US" dirty="0" err="1"/>
              <a:t>Soportes</a:t>
            </a:r>
            <a:r>
              <a:rPr lang="en-US" dirty="0"/>
              <a:t> (pdf)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barco</a:t>
            </a:r>
            <a:r>
              <a:rPr lang="en-US" dirty="0"/>
              <a:t> / </a:t>
            </a:r>
            <a:r>
              <a:rPr lang="en-US" dirty="0" err="1"/>
              <a:t>viaje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F356AA-418A-B856-A89C-097479966035}"/>
              </a:ext>
            </a:extLst>
          </p:cNvPr>
          <p:cNvSpPr txBox="1"/>
          <p:nvPr/>
        </p:nvSpPr>
        <p:spPr>
          <a:xfrm>
            <a:off x="1855192" y="1587104"/>
            <a:ext cx="726075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New System PTYSS TOOL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608050-54F1-B6FB-9191-8915C07CFCB3}"/>
              </a:ext>
            </a:extLst>
          </p:cNvPr>
          <p:cNvSpPr txBox="1"/>
          <p:nvPr/>
        </p:nvSpPr>
        <p:spPr>
          <a:xfrm>
            <a:off x="1847484" y="2182014"/>
            <a:ext cx="141921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751FB9-CF63-F4B6-8D06-EDA6CE261644}"/>
              </a:ext>
            </a:extLst>
          </p:cNvPr>
          <p:cNvSpPr txBox="1"/>
          <p:nvPr/>
        </p:nvSpPr>
        <p:spPr>
          <a:xfrm>
            <a:off x="1782065" y="2958953"/>
            <a:ext cx="122631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Import excel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CBE0DAF-AA14-C9A0-121B-F109CDADF34F}"/>
              </a:ext>
            </a:extLst>
          </p:cNvPr>
          <p:cNvCxnSpPr>
            <a:cxnSpLocks/>
            <a:stCxn id="19" idx="2"/>
            <a:endCxn id="26" idx="0"/>
          </p:cNvCxnSpPr>
          <p:nvPr/>
        </p:nvCxnSpPr>
        <p:spPr>
          <a:xfrm>
            <a:off x="2397773" y="5361197"/>
            <a:ext cx="9826" cy="382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4C7DA3F-EC33-98FB-5F5B-076993A316B5}"/>
              </a:ext>
            </a:extLst>
          </p:cNvPr>
          <p:cNvCxnSpPr>
            <a:cxnSpLocks/>
            <a:stCxn id="2" idx="3"/>
            <a:endCxn id="47" idx="1"/>
          </p:cNvCxnSpPr>
          <p:nvPr/>
        </p:nvCxnSpPr>
        <p:spPr>
          <a:xfrm>
            <a:off x="1422773" y="3282119"/>
            <a:ext cx="3592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0D30F15-34B4-CED7-0D6C-0A194611FAB4}"/>
              </a:ext>
            </a:extLst>
          </p:cNvPr>
          <p:cNvSpPr txBox="1"/>
          <p:nvPr/>
        </p:nvSpPr>
        <p:spPr>
          <a:xfrm>
            <a:off x="3880751" y="3634085"/>
            <a:ext cx="190195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adjuntos</a:t>
            </a:r>
            <a:endParaRPr lang="en-US" dirty="0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89A7D4E-3AB0-1B94-F256-77B818B04282}"/>
              </a:ext>
            </a:extLst>
          </p:cNvPr>
          <p:cNvCxnSpPr>
            <a:cxnSpLocks/>
            <a:stCxn id="82" idx="2"/>
            <a:endCxn id="5" idx="0"/>
          </p:cNvCxnSpPr>
          <p:nvPr/>
        </p:nvCxnSpPr>
        <p:spPr>
          <a:xfrm flipH="1">
            <a:off x="4801169" y="4003417"/>
            <a:ext cx="30558" cy="944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473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562392-ABDE-851F-BACD-C992DCEE3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ShipChandler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A42A28-387A-5855-B1D6-270F2251B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Gastos</a:t>
            </a:r>
            <a:r>
              <a:rPr lang="en-US" dirty="0"/>
              <a:t> </a:t>
            </a:r>
            <a:r>
              <a:rPr lang="en-US" dirty="0" err="1"/>
              <a:t>adicionales</a:t>
            </a:r>
            <a:r>
              <a:rPr lang="en-US" dirty="0"/>
              <a:t> se </a:t>
            </a:r>
            <a:r>
              <a:rPr lang="en-US" dirty="0" err="1"/>
              <a:t>meten</a:t>
            </a:r>
            <a:r>
              <a:rPr lang="en-US" dirty="0"/>
              <a:t> </a:t>
            </a:r>
            <a:r>
              <a:rPr lang="en-US" dirty="0" err="1"/>
              <a:t>manualmente</a:t>
            </a:r>
            <a:endParaRPr lang="en-US" dirty="0"/>
          </a:p>
          <a:p>
            <a:pPr lvl="1"/>
            <a:r>
              <a:rPr lang="en-US" dirty="0"/>
              <a:t>Delivery Expense : </a:t>
            </a:r>
            <a:r>
              <a:rPr lang="en-US" dirty="0" err="1"/>
              <a:t>basado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monto</a:t>
            </a:r>
            <a:r>
              <a:rPr lang="en-US" dirty="0"/>
              <a:t> total de la factura</a:t>
            </a:r>
          </a:p>
          <a:p>
            <a:pPr lvl="1"/>
            <a:r>
              <a:rPr lang="en-US" dirty="0"/>
              <a:t>Port Entry: </a:t>
            </a:r>
            <a:r>
              <a:rPr lang="en-US" dirty="0" err="1"/>
              <a:t>entregas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muelle</a:t>
            </a:r>
            <a:r>
              <a:rPr lang="en-US" dirty="0"/>
              <a:t> </a:t>
            </a:r>
            <a:r>
              <a:rPr lang="en-US" dirty="0" err="1"/>
              <a:t>solamente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Lancha: </a:t>
            </a:r>
            <a:r>
              <a:rPr lang="en-US" dirty="0" err="1"/>
              <a:t>cuando</a:t>
            </a:r>
            <a:r>
              <a:rPr lang="en-US" dirty="0"/>
              <a:t> es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anclaje</a:t>
            </a:r>
            <a:r>
              <a:rPr lang="en-US" dirty="0"/>
              <a:t>.</a:t>
            </a:r>
          </a:p>
          <a:p>
            <a:r>
              <a:rPr lang="en-US" dirty="0" err="1"/>
              <a:t>Descuento</a:t>
            </a:r>
            <a:endParaRPr lang="en-US" dirty="0"/>
          </a:p>
          <a:p>
            <a:r>
              <a:rPr lang="en-US" dirty="0" err="1">
                <a:highlight>
                  <a:srgbClr val="FFFF00"/>
                </a:highlight>
              </a:rPr>
              <a:t>Faltan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gastos</a:t>
            </a:r>
            <a:r>
              <a:rPr lang="en-US" dirty="0">
                <a:highlight>
                  <a:srgbClr val="FFFF00"/>
                </a:highlight>
              </a:rPr>
              <a:t> que se pagan </a:t>
            </a:r>
            <a:r>
              <a:rPr lang="en-US" dirty="0" err="1">
                <a:highlight>
                  <a:srgbClr val="FFFF00"/>
                </a:highlight>
              </a:rPr>
              <a:t>por</a:t>
            </a:r>
            <a:r>
              <a:rPr lang="en-US" dirty="0">
                <a:highlight>
                  <a:srgbClr val="FFFF00"/>
                </a:highlight>
              </a:rPr>
              <a:t> fuera. Se </a:t>
            </a:r>
            <a:r>
              <a:rPr lang="en-US" dirty="0" err="1">
                <a:highlight>
                  <a:srgbClr val="FFFF00"/>
                </a:highlight>
              </a:rPr>
              <a:t>registran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directamente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en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PeechTree</a:t>
            </a:r>
            <a:r>
              <a:rPr lang="en-US" dirty="0">
                <a:highlight>
                  <a:srgbClr val="FFFF00"/>
                </a:highlight>
              </a:rPr>
              <a:t>. No </a:t>
            </a:r>
            <a:r>
              <a:rPr lang="en-US" dirty="0" err="1">
                <a:highlight>
                  <a:srgbClr val="FFFF00"/>
                </a:highlight>
              </a:rPr>
              <a:t>estan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en</a:t>
            </a:r>
            <a:r>
              <a:rPr lang="en-US" dirty="0">
                <a:highlight>
                  <a:srgbClr val="FFFF00"/>
                </a:highlight>
              </a:rPr>
              <a:t> Seaborn</a:t>
            </a:r>
          </a:p>
          <a:p>
            <a:r>
              <a:rPr lang="en-US" dirty="0" err="1">
                <a:highlight>
                  <a:srgbClr val="FFFF00"/>
                </a:highlight>
              </a:rPr>
              <a:t>Cuando</a:t>
            </a:r>
            <a:r>
              <a:rPr lang="en-US" dirty="0">
                <a:highlight>
                  <a:srgbClr val="FFFF00"/>
                </a:highlight>
              </a:rPr>
              <a:t> se </a:t>
            </a:r>
            <a:r>
              <a:rPr lang="en-US" dirty="0" err="1">
                <a:highlight>
                  <a:srgbClr val="FFFF00"/>
                </a:highlight>
              </a:rPr>
              <a:t>sube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una</a:t>
            </a:r>
            <a:r>
              <a:rPr lang="en-US" dirty="0">
                <a:highlight>
                  <a:srgbClr val="FFFF00"/>
                </a:highlight>
              </a:rPr>
              <a:t> factura a Taulia y </a:t>
            </a:r>
            <a:r>
              <a:rPr lang="en-US" dirty="0" err="1">
                <a:highlight>
                  <a:srgbClr val="FFFF00"/>
                </a:highlight>
              </a:rPr>
              <a:t>cuando</a:t>
            </a:r>
            <a:r>
              <a:rPr lang="en-US" dirty="0">
                <a:highlight>
                  <a:srgbClr val="FFFF00"/>
                </a:highlight>
              </a:rPr>
              <a:t> no. En base a que se decide?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456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F7629-B0A2-54A3-A4A5-E767439D2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ABE7E0-6A65-750F-0032-64BE26A5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Pago a Terceros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D1406-F4C0-A5DA-C385-23D470690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Como se pagan </a:t>
            </a:r>
            <a:r>
              <a:rPr lang="en-US" dirty="0" err="1">
                <a:highlight>
                  <a:srgbClr val="FFFF00"/>
                </a:highlight>
              </a:rPr>
              <a:t>los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gastos</a:t>
            </a:r>
            <a:r>
              <a:rPr lang="en-US" dirty="0">
                <a:highlight>
                  <a:srgbClr val="FFFF00"/>
                </a:highlight>
              </a:rPr>
              <a:t> extra que no son </a:t>
            </a:r>
            <a:r>
              <a:rPr lang="en-US" dirty="0" err="1">
                <a:highlight>
                  <a:srgbClr val="FFFF00"/>
                </a:highlight>
              </a:rPr>
              <a:t>compras</a:t>
            </a:r>
            <a:r>
              <a:rPr lang="en-US" dirty="0">
                <a:highlight>
                  <a:srgbClr val="FFFF00"/>
                </a:highlight>
              </a:rPr>
              <a:t> de las </a:t>
            </a:r>
            <a:r>
              <a:rPr lang="en-US" dirty="0" err="1">
                <a:highlight>
                  <a:srgbClr val="FFFF00"/>
                </a:highlight>
              </a:rPr>
              <a:t>entregas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67625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2831</TotalTime>
  <Words>1173</Words>
  <Application>Microsoft Office PowerPoint</Application>
  <PresentationFormat>Widescreen</PresentationFormat>
  <Paragraphs>262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SAP Project</vt:lpstr>
      <vt:lpstr>MDB INVOICING – Panama Transshipment Group</vt:lpstr>
      <vt:lpstr>As-is</vt:lpstr>
      <vt:lpstr>To-be</vt:lpstr>
      <vt:lpstr>Agency – PTYSS</vt:lpstr>
      <vt:lpstr>Ops </vt:lpstr>
      <vt:lpstr>Facturacion de Agencia</vt:lpstr>
      <vt:lpstr>Pagos a Tercerizados</vt:lpstr>
      <vt:lpstr>Por revisar</vt:lpstr>
      <vt:lpstr>PowerPoint Presentation</vt:lpstr>
      <vt:lpstr>PowerPoint Presentation</vt:lpstr>
      <vt:lpstr>PowerPoint Presentation</vt:lpstr>
      <vt:lpstr>Catalogo</vt:lpstr>
      <vt:lpstr>Trucking – PTYSS</vt:lpstr>
      <vt:lpstr>Trucking</vt:lpstr>
      <vt:lpstr>Pagos a Tercerizados</vt:lpstr>
      <vt:lpstr>Invocing Tool </vt:lpstr>
      <vt:lpstr>Ship Chandler - PTYSS</vt:lpstr>
      <vt:lpstr>ShipChandler</vt:lpstr>
      <vt:lpstr>Pago a Terceros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Almeida Kant</dc:creator>
  <cp:lastModifiedBy>Almeida Kant</cp:lastModifiedBy>
  <cp:revision>25</cp:revision>
  <dcterms:created xsi:type="dcterms:W3CDTF">2025-05-13T15:30:29Z</dcterms:created>
  <dcterms:modified xsi:type="dcterms:W3CDTF">2025-05-26T18:24:39Z</dcterms:modified>
</cp:coreProperties>
</file>